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这次汇报介绍我围绕 Vortex 三点零 Command Processor 完成的优化实验。重点不是逐条展示修改，而是解释为什么选择这些优化、RTL和Runtime中怎样实现、实验结果意味着什么，以及它们如何为后续多队列研究建立基础。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整项工作的主线可以归纳为四个问题。第一，为什么 CP 会成为值得研究的前端；第二，瓶颈究竟来自执行状态、取指流量还是存储延迟；第三，如何证明性能变化没有破坏命令语义；第四，面对面积和频率代价，哪些优化值得默认集成。后面的内容都围绕这四个问题展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 CP 在系统中的位置。Host 通过 AXI-Lite 配置队列和 Ring，每个队列的命令经过 Fetch、Unpack 和 Engine，再竞争 KMU、DMA、DCR 和 Event 等共享资源，最后由 Completion 更新序号。因为这是一条串联路径，所以前端多等待一个周期，可能直接推迟后面的 Kernel 启动或数据操作。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Baseline 的第一项重要结论是，当前单队列场景的主要矛盾不是仲裁。所有测试的 arb wait 都是零，而 B2 的 DCR 响应等待达到八十周期，B7 的 KMU 等待达到六十四周期。与此同时，Engine仍有固定状态开销，Fetch也存在带宽和延迟问题，因此我把优化拆成执行路径、命令布局和读取流水三个层次。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为了避免只得到一组孤立数字，所有实验都采用同一流程：先建立 Baseline，再定位原因，然后参数化实现，之后做边界和压力验证，最后结合 PPA 决定是否集成。评价指标同时覆盖 CPC、吞吐、取指字节、序号以及面积和频率。实验三也提醒我们，DMA尾拍越界已经被证明，但没有完整内存域和Ring链路时，不能把它扩大解释成真实命令Ring被覆盖。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实验四处理的是 Engine 的固定控制开销。NOP 不需要申请任何共享资源，原来的 DECODE 状态对它实际上只产生一次无效跳转，所以我增加参数 ENABLE_NOP_FAST_PATH，在 IDLE 中识别 NOP 后直接进入 RETIRE。其他命令仍然经过原来的 DECODE、BID 和 WAIT DONE 路径，并且参数默认关闭，保证实验实现不会悄悄改变整机默认时序。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Fast Path 把 NOP 的 CPC 从三点零降到二点零，改善三分之一，执行吞吐从零点三三三提高到零点五。三种压力规模都保持序号正确，没有丢失和重复。但是模块级时序代理显示 Fmax 下降百分之六点四三，超过设定的重新评估线。因此结论不是简单接受，而是功能接受、默认集成拒绝，这说明控制周期收益必须和关键路径一起看。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实验五针对的是缓存行利用率。DCR 写命令只有二十字节，如果每条命令独占六十四字节缓存行，就会浪费超过三分之二的读取带宽。Runtime 因此增加缓存行构建器，在空间足够时继续追加命令，空间不足或批次结束时补零并刷新。更关键的是把 tail 和 expected seqnum 分开：tail 按缓存行增长，序号仍然按命令增长。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Packing 把一千条 DCR 命令需要的缓存行从一千条降到三百三十四条，平均取指字节从六十四降到二十一点三七六，流量下降百分之六十六点六。总周期仍然是七千零十一，这不是实验失败，而是说明当前负载的瓶颈在 DCR 执行和退休，Fetch流量已经能够被重叠。它的价值在于降低未来高延迟和多队列环境中的前端压力，并为预取提供更高的单行命令密度。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实验六进一步处理 Host AXI 延迟。原始 Fetch 必须等待当前缓存行返回并消费完，才能请求下一行；新设计把请求、响应缓存和消费拆开，用 fetch head 表示已请求位置，用 head 表示已消费位置，中间加入两项缓存行 FIFO。容量判断同时计算已返回行和在途请求，保证每个未来响应都已经预留槽位，同时仍保持有序响应，不引入重排结构。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预取的收益随着 AXI 延迟增加而迅速接近两倍。延迟一个周期时吞吐提升约百分之四十八点八，延迟二十周期时提升百分之九十九，延迟一百周期时达到百分之九十九点八。这里没有降低 AXI 本身的延迟，而是把下一行的等待和当前行命令输出重叠。所有点都保持六十四次读取、一百九十二条命令以及零丢失零重复。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三项优化改变的对象不同，所以验证也不能只看一次 PASS。Fast Path 要确认状态跳转和资源分类，Packing 要确认变长命令、空间不足和 Ring 回绕，Prefetch 要确认在途请求、FIFO容量和返回顺序。最终共同的不变量是命令数量、顺序、序号以及完成语义都不能改变，这也是后续优化必须继续复用的验证框架。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综合三项实验，可以看到性能数字不能脱离适用场景和 PPA。Fast Path 的周期收益明确，但频率代价使它默认关闭；Packing 显著降低流量，但在当前 DCR 负载中不改变吞吐；Prefetch 在高延迟场景接近两倍吞吐，但 ASIC 面积增加百分之十点八七。因此当前采用参数化保留能力、默认配置保持保守的集成策略。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这些实验对后续研究最大的影响，是已经建立了可复用的指标、延迟模型、参数开关和正确性检查。下一步可以在此基础上研究 Priority-aware 仲裁、Aging 防饥饿和 Event Wait 公平性，再推进多队列与 QMD 式启动。系统层还需要测量 Packing 与 Prefetch 的组合收益，并补齐 SimX 与 RTL 周期一致性以及 XRT 全链路验证。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最后总结三点。第一，CP瓶颈是分层的，不能用单一吞吐指标解释；第二，Fast Path、Packing和Prefetch分别优化执行、数据布局和取指等待；第三，正确性、性能与PPA必须共同决定集成。下一阶段的研究重点应从单队列局部优化，转向多队列资源竞争、组合优化和端到端模型一致性。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0" y="0"/>
            <a:ext cx="7587234" cy="6858000"/>
            <a:chOff x="0" y="0"/>
            <a:chExt cx="7587234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7239000" cy="6858000"/>
            </a:xfrm>
            <a:prstGeom prst="rect">
              <a:avLst/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33400" y="1066800"/>
              <a:ext cx="723900" cy="57150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72440" y="1539240"/>
              <a:ext cx="439125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Vortex v3.0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72440" y="2282190"/>
              <a:ext cx="711479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Command Processor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72440" y="3025140"/>
              <a:ext cx="306628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优化实验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7685" y="3828098"/>
              <a:ext cx="410789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>
                      <a:alphaMod val="78000"/>
                    </a:srgbClr>
                  </a:solidFill>
                  <a:latin typeface="Arial"/>
                  <a:ea typeface="Microsoft YaHei"/>
                  <a:cs typeface="Arial"/>
                </a:rPr>
                <a:t>从瓶颈定位到可验证的 RTL 优化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8162" y="591740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62000"/>
                    </a:srgbClr>
                  </a:solidFill>
                  <a:latin typeface="Arial"/>
                  <a:ea typeface="Microsoft YaHei"/>
                  <a:cs typeface="Arial"/>
                </a:rPr>
                <a:t>组会汇报 · 2026.08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239000" y="0"/>
            <a:ext cx="4953000" cy="6858000"/>
            <a:chOff x="7239000" y="0"/>
            <a:chExt cx="4953000" cy="6858000"/>
          </a:xfrm>
        </p:grpSpPr>
        <p:sp>
          <p:nvSpPr>
            <p:cNvPr id="11" name="Rectangle 11"/>
            <p:cNvSpPr/>
            <p:nvPr/>
          </p:nvSpPr>
          <p:spPr>
            <a:xfrm>
              <a:off x="7239000" y="0"/>
              <a:ext cx="4953000" cy="68580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58112" y="1002506"/>
              <a:ext cx="22627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END-TO-END COMMAND PATH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72400" y="1638300"/>
              <a:ext cx="158115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1565C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36477" y="19583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Host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44050" y="1638300"/>
              <a:ext cx="158115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00A6A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32218" y="19583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Fetch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544050" y="3143250"/>
              <a:ext cx="158115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F59E0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90812" y="3463290"/>
              <a:ext cx="88762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Engine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772400" y="4648200"/>
              <a:ext cx="158115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0B1F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08749" y="4968240"/>
              <a:ext cx="110845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Execute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353550" y="20764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38100">
              <a:solidFill>
                <a:srgbClr val="1565C0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9429750" y="20097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10334625" y="251460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38100">
              <a:solidFill>
                <a:srgbClr val="00A6A6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10267950" y="30289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9353550" y="3581400"/>
              <a:ext cx="190500" cy="1066800"/>
            </a:xfrm>
            <a:custGeom>
              <a:avLst/>
              <a:gdLst/>
              <a:ahLst/>
              <a:cxnLst/>
              <a:rect l="l" t="t" r="r" b="b"/>
              <a:pathLst>
                <a:path w="190500" h="1066800">
                  <a:moveTo>
                    <a:pt x="190500" y="0"/>
                  </a:moveTo>
                  <a:lnTo>
                    <a:pt x="0" y="1066800"/>
                  </a:lnTo>
                </a:path>
              </a:pathLst>
            </a:custGeom>
            <a:noFill/>
            <a:ln w="38100">
              <a:solidFill>
                <a:srgbClr val="F59E0B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9315450" y="4514850"/>
              <a:ext cx="123825" cy="133350"/>
            </a:xfrm>
            <a:custGeom>
              <a:avLst/>
              <a:gdLst/>
              <a:ahLst/>
              <a:cxnLst/>
              <a:rect l="l" t="t" r="r" b="b"/>
              <a:pathLst>
                <a:path w="123825" h="133350">
                  <a:moveTo>
                    <a:pt x="38100" y="133350"/>
                  </a:moveTo>
                  <a:lnTo>
                    <a:pt x="0" y="0"/>
                  </a:lnTo>
                  <a:lnTo>
                    <a:pt x="123825" y="28575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756208" y="5920264"/>
              <a:ext cx="29373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B677A"/>
                  </a:solidFill>
                  <a:latin typeface="Consolas"/>
                  <a:ea typeface="Microsoft YaHei"/>
                  <a:cs typeface="Consolas"/>
                </a:rPr>
                <a:t>Fetch → Unpack → Engine → Retire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9110" y="280035"/>
            <a:ext cx="11161404" cy="548640"/>
            <a:chOff x="499110" y="280035"/>
            <a:chExt cx="11161404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280035"/>
              <a:ext cx="462314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这项研究要回答四个问题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287000" y="3238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85085" y="426720"/>
              <a:ext cx="13754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RESEARCH QUESTIONS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781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33400" y="990600"/>
            <a:ext cx="11125200" cy="514350"/>
            <a:chOff x="533400" y="990600"/>
            <a:chExt cx="11125200" cy="514350"/>
          </a:xfrm>
        </p:grpSpPr>
        <p:sp>
          <p:nvSpPr>
            <p:cNvPr id="8" name="Rectangle 8"/>
            <p:cNvSpPr/>
            <p:nvPr/>
          </p:nvSpPr>
          <p:spPr>
            <a:xfrm>
              <a:off x="533400" y="990600"/>
              <a:ext cx="11125200" cy="514350"/>
            </a:xfrm>
            <a:prstGeom prst="roundRect">
              <a:avLst>
                <a:gd name="adj" fmla="val 14815"/>
              </a:avLst>
            </a:prstGeom>
            <a:solidFill>
              <a:srgbClr val="1565C0">
                <a:alpha val="8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2950" y="1162050"/>
              <a:ext cx="67549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优化不是“改RTL”，而是建立瓶颈 → 机制 → 证据 → 决策的完整闭环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1752600"/>
            <a:ext cx="11125200" cy="876300"/>
            <a:chOff x="533400" y="1752600"/>
            <a:chExt cx="11125200" cy="876300"/>
          </a:xfrm>
        </p:grpSpPr>
        <p:sp>
          <p:nvSpPr>
            <p:cNvPr id="11" name="Rectangle 11"/>
            <p:cNvSpPr/>
            <p:nvPr/>
          </p:nvSpPr>
          <p:spPr>
            <a:xfrm>
              <a:off x="533400" y="1752600"/>
              <a:ext cx="111252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D7DEE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2950" y="1971675"/>
              <a:ext cx="46724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447800" y="2000250"/>
              <a:ext cx="381000" cy="381000"/>
              <a:chOff x="1447800" y="2000250"/>
              <a:chExt cx="381000" cy="381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543050" y="20955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42645" y="0"/>
                      <a:pt x="0" y="42645"/>
                      <a:pt x="0" y="95250"/>
                    </a:cubicBezTo>
                    <a:cubicBezTo>
                      <a:pt x="0" y="147854"/>
                      <a:pt x="42645" y="190500"/>
                      <a:pt x="95250" y="190500"/>
                    </a:cubicBezTo>
                    <a:cubicBezTo>
                      <a:pt x="147854" y="190500"/>
                      <a:pt x="190500" y="147854"/>
                      <a:pt x="190500" y="95250"/>
                    </a:cubicBezTo>
                    <a:cubicBezTo>
                      <a:pt x="190500" y="42645"/>
                      <a:pt x="147854" y="0"/>
                      <a:pt x="95250" y="0"/>
                    </a:cubicBezTo>
                    <a:close/>
                    <a:moveTo>
                      <a:pt x="47625" y="95250"/>
                    </a:moveTo>
                    <a:cubicBezTo>
                      <a:pt x="47625" y="68947"/>
                      <a:pt x="68947" y="47625"/>
                      <a:pt x="95250" y="47625"/>
                    </a:cubicBezTo>
                    <a:cubicBezTo>
                      <a:pt x="121553" y="47625"/>
                      <a:pt x="142875" y="68947"/>
                      <a:pt x="142875" y="95250"/>
                    </a:cubicBezTo>
                    <a:cubicBezTo>
                      <a:pt x="142875" y="121553"/>
                      <a:pt x="121553" y="142875"/>
                      <a:pt x="95250" y="142875"/>
                    </a:cubicBezTo>
                    <a:cubicBezTo>
                      <a:pt x="68947" y="142875"/>
                      <a:pt x="47625" y="121553"/>
                      <a:pt x="47625" y="9525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447800" y="200025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190500" y="0"/>
                    </a:moveTo>
                    <a:cubicBezTo>
                      <a:pt x="85290" y="0"/>
                      <a:pt x="0" y="85290"/>
                      <a:pt x="0" y="190500"/>
                    </a:cubicBezTo>
                    <a:cubicBezTo>
                      <a:pt x="0" y="295711"/>
                      <a:pt x="85290" y="381000"/>
                      <a:pt x="190500" y="381000"/>
                    </a:cubicBezTo>
                    <a:cubicBezTo>
                      <a:pt x="295711" y="381000"/>
                      <a:pt x="381000" y="295711"/>
                      <a:pt x="381000" y="190500"/>
                    </a:cubicBezTo>
                    <a:cubicBezTo>
                      <a:pt x="381000" y="85290"/>
                      <a:pt x="295711" y="0"/>
                      <a:pt x="190500" y="0"/>
                    </a:cubicBezTo>
                    <a:close/>
                    <a:moveTo>
                      <a:pt x="47625" y="190500"/>
                    </a:moveTo>
                    <a:cubicBezTo>
                      <a:pt x="47625" y="111592"/>
                      <a:pt x="111592" y="47625"/>
                      <a:pt x="190500" y="47625"/>
                    </a:cubicBezTo>
                    <a:cubicBezTo>
                      <a:pt x="269407" y="47625"/>
                      <a:pt x="333375" y="111592"/>
                      <a:pt x="333375" y="190500"/>
                    </a:cubicBezTo>
                    <a:cubicBezTo>
                      <a:pt x="333375" y="269407"/>
                      <a:pt x="269407" y="333375"/>
                      <a:pt x="190500" y="333375"/>
                    </a:cubicBezTo>
                    <a:cubicBezTo>
                      <a:pt x="111592" y="333375"/>
                      <a:pt x="47625" y="269407"/>
                      <a:pt x="47625" y="190500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2034540" y="1929765"/>
              <a:ext cx="200556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为什么优化CP？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41208" y="2262664"/>
              <a:ext cx="50508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CP连接Host命令与GPU执行资源，前端停顿会沿命令链传播。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2857500"/>
            <a:ext cx="11125200" cy="876300"/>
            <a:chOff x="533400" y="2857500"/>
            <a:chExt cx="11125200" cy="876300"/>
          </a:xfrm>
        </p:grpSpPr>
        <p:sp>
          <p:nvSpPr>
            <p:cNvPr id="19" name="Rectangle 19"/>
            <p:cNvSpPr/>
            <p:nvPr/>
          </p:nvSpPr>
          <p:spPr>
            <a:xfrm>
              <a:off x="533400" y="2857500"/>
              <a:ext cx="111252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D7DEE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2950" y="3076575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1447800" y="3128962"/>
              <a:ext cx="381000" cy="309562"/>
            </a:xfrm>
            <a:custGeom>
              <a:avLst/>
              <a:gdLst/>
              <a:ahLst/>
              <a:cxnLst/>
              <a:rect l="l" t="t" r="r" b="b"/>
              <a:pathLst>
                <a:path w="381000" h="309562">
                  <a:moveTo>
                    <a:pt x="41782" y="309562"/>
                  </a:moveTo>
                  <a:cubicBezTo>
                    <a:pt x="15638" y="276949"/>
                    <a:pt x="0" y="235551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ubicBezTo>
                    <a:pt x="295711" y="0"/>
                    <a:pt x="381000" y="85290"/>
                    <a:pt x="381000" y="190500"/>
                  </a:cubicBezTo>
                  <a:cubicBezTo>
                    <a:pt x="381000" y="235551"/>
                    <a:pt x="365362" y="276949"/>
                    <a:pt x="339219" y="309562"/>
                  </a:cubicBezTo>
                  <a:lnTo>
                    <a:pt x="219116" y="309562"/>
                  </a:lnTo>
                  <a:lnTo>
                    <a:pt x="303236" y="218573"/>
                  </a:lnTo>
                  <a:lnTo>
                    <a:pt x="268264" y="186242"/>
                  </a:lnTo>
                  <a:lnTo>
                    <a:pt x="154257" y="309562"/>
                  </a:lnTo>
                  <a:lnTo>
                    <a:pt x="41782" y="309562"/>
                  </a:lnTo>
                  <a:close/>
                  <a:moveTo>
                    <a:pt x="166688" y="71438"/>
                  </a:moveTo>
                  <a:cubicBezTo>
                    <a:pt x="166688" y="84589"/>
                    <a:pt x="177349" y="95250"/>
                    <a:pt x="190500" y="95250"/>
                  </a:cubicBezTo>
                  <a:cubicBezTo>
                    <a:pt x="203651" y="95250"/>
                    <a:pt x="214312" y="84589"/>
                    <a:pt x="214312" y="71438"/>
                  </a:cubicBezTo>
                  <a:cubicBezTo>
                    <a:pt x="214312" y="58286"/>
                    <a:pt x="203651" y="47625"/>
                    <a:pt x="190500" y="47625"/>
                  </a:cubicBezTo>
                  <a:cubicBezTo>
                    <a:pt x="177349" y="47625"/>
                    <a:pt x="166688" y="58286"/>
                    <a:pt x="166688" y="71438"/>
                  </a:cubicBezTo>
                  <a:close/>
                  <a:moveTo>
                    <a:pt x="273844" y="130969"/>
                  </a:moveTo>
                  <a:cubicBezTo>
                    <a:pt x="260692" y="130969"/>
                    <a:pt x="250031" y="120307"/>
                    <a:pt x="250031" y="107156"/>
                  </a:cubicBezTo>
                  <a:cubicBezTo>
                    <a:pt x="250031" y="94005"/>
                    <a:pt x="260692" y="83344"/>
                    <a:pt x="273844" y="83344"/>
                  </a:cubicBezTo>
                  <a:cubicBezTo>
                    <a:pt x="286995" y="83344"/>
                    <a:pt x="297656" y="94005"/>
                    <a:pt x="297656" y="107156"/>
                  </a:cubicBezTo>
                  <a:cubicBezTo>
                    <a:pt x="297656" y="120307"/>
                    <a:pt x="286995" y="130969"/>
                    <a:pt x="273844" y="130969"/>
                  </a:cubicBezTo>
                  <a:close/>
                  <a:moveTo>
                    <a:pt x="47625" y="190500"/>
                  </a:moveTo>
                  <a:cubicBezTo>
                    <a:pt x="47625" y="203651"/>
                    <a:pt x="58286" y="214312"/>
                    <a:pt x="71438" y="214312"/>
                  </a:cubicBezTo>
                  <a:cubicBezTo>
                    <a:pt x="84589" y="214312"/>
                    <a:pt x="95250" y="203651"/>
                    <a:pt x="95250" y="190500"/>
                  </a:cubicBezTo>
                  <a:cubicBezTo>
                    <a:pt x="95250" y="177349"/>
                    <a:pt x="84589" y="166688"/>
                    <a:pt x="71438" y="166688"/>
                  </a:cubicBezTo>
                  <a:cubicBezTo>
                    <a:pt x="58286" y="166688"/>
                    <a:pt x="47625" y="177349"/>
                    <a:pt x="47625" y="190500"/>
                  </a:cubicBezTo>
                  <a:close/>
                  <a:moveTo>
                    <a:pt x="107156" y="130969"/>
                  </a:moveTo>
                  <a:cubicBezTo>
                    <a:pt x="94005" y="130969"/>
                    <a:pt x="83344" y="120307"/>
                    <a:pt x="83344" y="107156"/>
                  </a:cubicBezTo>
                  <a:cubicBezTo>
                    <a:pt x="83344" y="94005"/>
                    <a:pt x="94005" y="83344"/>
                    <a:pt x="107156" y="83344"/>
                  </a:cubicBezTo>
                  <a:cubicBezTo>
                    <a:pt x="120308" y="83344"/>
                    <a:pt x="130969" y="94005"/>
                    <a:pt x="130969" y="107156"/>
                  </a:cubicBezTo>
                  <a:cubicBezTo>
                    <a:pt x="130969" y="120307"/>
                    <a:pt x="120308" y="130969"/>
                    <a:pt x="107156" y="130969"/>
                  </a:cubicBez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34540" y="3034665"/>
              <a:ext cx="2253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瓶颈究竟在哪里？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41208" y="3367564"/>
              <a:ext cx="44363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区分固定状态开销、Fetch带宽浪费与Host AXI等待。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3962400"/>
            <a:ext cx="11125200" cy="876300"/>
            <a:chOff x="533400" y="3962400"/>
            <a:chExt cx="11125200" cy="876300"/>
          </a:xfrm>
        </p:grpSpPr>
        <p:sp>
          <p:nvSpPr>
            <p:cNvPr id="25" name="Rectangle 25"/>
            <p:cNvSpPr/>
            <p:nvPr/>
          </p:nvSpPr>
          <p:spPr>
            <a:xfrm>
              <a:off x="533400" y="3962400"/>
              <a:ext cx="111252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D7DEE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2950" y="4181475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38A5B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1471612" y="4210050"/>
              <a:ext cx="333375" cy="381000"/>
            </a:xfrm>
            <a:custGeom>
              <a:avLst/>
              <a:gdLst/>
              <a:ahLst/>
              <a:cxnLst/>
              <a:rect l="l" t="t" r="r" b="b"/>
              <a:pathLst>
                <a:path w="333375" h="381000">
                  <a:moveTo>
                    <a:pt x="166688" y="381000"/>
                  </a:moveTo>
                  <a:lnTo>
                    <a:pt x="79774" y="318918"/>
                  </a:lnTo>
                  <a:cubicBezTo>
                    <a:pt x="29712" y="283159"/>
                    <a:pt x="0" y="225425"/>
                    <a:pt x="0" y="163903"/>
                  </a:cubicBezTo>
                  <a:lnTo>
                    <a:pt x="0" y="71438"/>
                  </a:lnTo>
                  <a:lnTo>
                    <a:pt x="166688" y="0"/>
                  </a:lnTo>
                  <a:lnTo>
                    <a:pt x="333375" y="71438"/>
                  </a:lnTo>
                  <a:lnTo>
                    <a:pt x="333375" y="163903"/>
                  </a:lnTo>
                  <a:cubicBezTo>
                    <a:pt x="333375" y="225425"/>
                    <a:pt x="303664" y="283159"/>
                    <a:pt x="253601" y="318918"/>
                  </a:cubicBezTo>
                  <a:lnTo>
                    <a:pt x="166688" y="381000"/>
                  </a:lnTo>
                  <a:close/>
                  <a:moveTo>
                    <a:pt x="266869" y="135901"/>
                  </a:moveTo>
                  <a:lnTo>
                    <a:pt x="233193" y="102224"/>
                  </a:lnTo>
                  <a:lnTo>
                    <a:pt x="142875" y="192543"/>
                  </a:lnTo>
                  <a:lnTo>
                    <a:pt x="100182" y="149849"/>
                  </a:lnTo>
                  <a:lnTo>
                    <a:pt x="66506" y="183526"/>
                  </a:lnTo>
                  <a:lnTo>
                    <a:pt x="142875" y="259894"/>
                  </a:lnTo>
                  <a:lnTo>
                    <a:pt x="266869" y="135901"/>
                  </a:lnTo>
                  <a:close/>
                </a:path>
              </a:pathLst>
            </a:custGeom>
            <a:solidFill>
              <a:srgbClr val="138A5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34540" y="4139565"/>
              <a:ext cx="280606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如何证明没有副作用？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41208" y="4472464"/>
              <a:ext cx="49018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用顺序、seqnum、Ring wrap、边界与压力回归守住语义。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3400" y="5067300"/>
            <a:ext cx="11125200" cy="876300"/>
            <a:chOff x="533400" y="5067300"/>
            <a:chExt cx="11125200" cy="876300"/>
          </a:xfrm>
        </p:grpSpPr>
        <p:sp>
          <p:nvSpPr>
            <p:cNvPr id="31" name="Rectangle 31"/>
            <p:cNvSpPr/>
            <p:nvPr/>
          </p:nvSpPr>
          <p:spPr>
            <a:xfrm>
              <a:off x="533400" y="5067300"/>
              <a:ext cx="111252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D7DEE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2950" y="5286375"/>
              <a:ext cx="58226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1483519" y="5314950"/>
              <a:ext cx="309562" cy="381000"/>
            </a:xfrm>
            <a:custGeom>
              <a:avLst/>
              <a:gdLst/>
              <a:ahLst/>
              <a:cxnLst/>
              <a:rect l="l" t="t" r="r" b="b"/>
              <a:pathLst>
                <a:path w="309562" h="381000">
                  <a:moveTo>
                    <a:pt x="83344" y="114109"/>
                  </a:moveTo>
                  <a:cubicBezTo>
                    <a:pt x="104369" y="104923"/>
                    <a:pt x="119062" y="83943"/>
                    <a:pt x="119062" y="59531"/>
                  </a:cubicBezTo>
                  <a:cubicBezTo>
                    <a:pt x="119062" y="26653"/>
                    <a:pt x="92409" y="0"/>
                    <a:pt x="59531" y="0"/>
                  </a:cubicBezTo>
                  <a:cubicBezTo>
                    <a:pt x="26653" y="0"/>
                    <a:pt x="0" y="26653"/>
                    <a:pt x="0" y="59531"/>
                  </a:cubicBezTo>
                  <a:cubicBezTo>
                    <a:pt x="0" y="83943"/>
                    <a:pt x="14694" y="104923"/>
                    <a:pt x="35719" y="114109"/>
                  </a:cubicBezTo>
                  <a:lnTo>
                    <a:pt x="35719" y="266890"/>
                  </a:lnTo>
                  <a:cubicBezTo>
                    <a:pt x="14694" y="276077"/>
                    <a:pt x="0" y="297056"/>
                    <a:pt x="0" y="321469"/>
                  </a:cubicBezTo>
                  <a:cubicBezTo>
                    <a:pt x="0" y="354347"/>
                    <a:pt x="26653" y="381000"/>
                    <a:pt x="59531" y="381000"/>
                  </a:cubicBezTo>
                  <a:cubicBezTo>
                    <a:pt x="92409" y="381000"/>
                    <a:pt x="119062" y="354347"/>
                    <a:pt x="119062" y="321469"/>
                  </a:cubicBezTo>
                  <a:cubicBezTo>
                    <a:pt x="119062" y="297056"/>
                    <a:pt x="104369" y="276077"/>
                    <a:pt x="83344" y="266890"/>
                  </a:cubicBezTo>
                  <a:lnTo>
                    <a:pt x="83344" y="214312"/>
                  </a:lnTo>
                  <a:lnTo>
                    <a:pt x="273844" y="214312"/>
                  </a:lnTo>
                  <a:lnTo>
                    <a:pt x="273844" y="114109"/>
                  </a:lnTo>
                  <a:cubicBezTo>
                    <a:pt x="294870" y="104923"/>
                    <a:pt x="309562" y="83943"/>
                    <a:pt x="309562" y="59531"/>
                  </a:cubicBezTo>
                  <a:cubicBezTo>
                    <a:pt x="309562" y="26653"/>
                    <a:pt x="282909" y="0"/>
                    <a:pt x="250031" y="0"/>
                  </a:cubicBezTo>
                  <a:cubicBezTo>
                    <a:pt x="217153" y="0"/>
                    <a:pt x="190500" y="26653"/>
                    <a:pt x="190500" y="59531"/>
                  </a:cubicBezTo>
                  <a:cubicBezTo>
                    <a:pt x="190500" y="83943"/>
                    <a:pt x="205192" y="104923"/>
                    <a:pt x="226219" y="114109"/>
                  </a:cubicBezTo>
                  <a:lnTo>
                    <a:pt x="226219" y="166688"/>
                  </a:lnTo>
                  <a:lnTo>
                    <a:pt x="83344" y="166688"/>
                  </a:lnTo>
                  <a:lnTo>
                    <a:pt x="83344" y="114109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34540" y="5244465"/>
              <a:ext cx="25300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哪些结果值得继续？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41208" y="5577364"/>
              <a:ext cx="457600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把吞吐收益与面积、Fmax、适用负载一起做集成决策。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21970" y="6532245"/>
            <a:ext cx="11148060" cy="182880"/>
            <a:chOff x="521970" y="6532245"/>
            <a:chExt cx="11148060" cy="182880"/>
          </a:xfrm>
        </p:grpSpPr>
        <p:sp>
          <p:nvSpPr>
            <p:cNvPr id="37" name="TextBox 37"/>
            <p:cNvSpPr txBox="1"/>
            <p:nvPr/>
          </p:nvSpPr>
          <p:spPr>
            <a:xfrm>
              <a:off x="521970" y="6532245"/>
              <a:ext cx="22574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来源：Vortex CP 实验文档与仓库实测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39690" y="65322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24" grpId="0"/>
      <p:bldP spid="30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9110" y="280035"/>
            <a:ext cx="11159490" cy="548640"/>
            <a:chOff x="499110" y="280035"/>
            <a:chExt cx="11159490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280035"/>
              <a:ext cx="66727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CP位于Host控制与GPU执行资源之间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287000" y="3238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523165" y="426720"/>
              <a:ext cx="8992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ARCHITECTURE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781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33400" y="990600"/>
            <a:ext cx="11125200" cy="476250"/>
            <a:chOff x="533400" y="990600"/>
            <a:chExt cx="11125200" cy="476250"/>
          </a:xfrm>
        </p:grpSpPr>
        <p:sp>
          <p:nvSpPr>
            <p:cNvPr id="8" name="Rectangle 8"/>
            <p:cNvSpPr/>
            <p:nvPr/>
          </p:nvSpPr>
          <p:spPr>
            <a:xfrm>
              <a:off x="533400" y="990600"/>
              <a:ext cx="11125200" cy="476250"/>
            </a:xfrm>
            <a:prstGeom prst="roundRect">
              <a:avLst>
                <a:gd name="adj" fmla="val 16000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2950" y="1133475"/>
              <a:ext cx="6743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CP前端的等待会直接限制Kernel启动、数据搬运和寄存器配置效率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714500"/>
            <a:ext cx="11125200" cy="895350"/>
            <a:chOff x="533400" y="1714500"/>
            <a:chExt cx="11125200" cy="895350"/>
          </a:xfrm>
        </p:grpSpPr>
        <p:sp>
          <p:nvSpPr>
            <p:cNvPr id="11" name="Rectangle 11"/>
            <p:cNvSpPr/>
            <p:nvPr/>
          </p:nvSpPr>
          <p:spPr>
            <a:xfrm>
              <a:off x="533400" y="1714500"/>
              <a:ext cx="11125200" cy="895350"/>
            </a:xfrm>
            <a:prstGeom prst="roundRect">
              <a:avLst>
                <a:gd name="adj" fmla="val 12766"/>
              </a:avLst>
            </a:prstGeom>
            <a:solidFill>
              <a:srgbClr val="FFFFFF"/>
            </a:solidFill>
            <a:ln w="9525">
              <a:solidFill>
                <a:srgbClr val="1565C0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06053" y="1977628"/>
              <a:ext cx="350044" cy="350044"/>
            </a:xfrm>
            <a:custGeom>
              <a:avLst/>
              <a:gdLst/>
              <a:ahLst/>
              <a:cxnLst/>
              <a:rect l="l" t="t" r="r" b="b"/>
              <a:pathLst>
                <a:path w="350044" h="350044">
                  <a:moveTo>
                    <a:pt x="150019" y="0"/>
                  </a:moveTo>
                  <a:lnTo>
                    <a:pt x="75009" y="0"/>
                  </a:lnTo>
                  <a:lnTo>
                    <a:pt x="0" y="125016"/>
                  </a:lnTo>
                  <a:lnTo>
                    <a:pt x="0" y="350044"/>
                  </a:lnTo>
                  <a:lnTo>
                    <a:pt x="350044" y="350044"/>
                  </a:lnTo>
                  <a:lnTo>
                    <a:pt x="350044" y="125016"/>
                  </a:lnTo>
                  <a:lnTo>
                    <a:pt x="275034" y="0"/>
                  </a:lnTo>
                  <a:lnTo>
                    <a:pt x="200025" y="0"/>
                  </a:lnTo>
                  <a:lnTo>
                    <a:pt x="200025" y="125016"/>
                  </a:lnTo>
                  <a:lnTo>
                    <a:pt x="150019" y="125016"/>
                  </a:lnTo>
                  <a:lnTo>
                    <a:pt x="150019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12545" y="1879282"/>
              <a:ext cx="143358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Host 控制层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17308" y="2205514"/>
              <a:ext cx="56374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AXI4-Lite → VX_cp_axil_regfile → Queue State / Ring Base / Tail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33400" y="2819400"/>
            <a:ext cx="11125200" cy="1352550"/>
            <a:chOff x="533400" y="2819400"/>
            <a:chExt cx="11125200" cy="1352550"/>
          </a:xfrm>
        </p:grpSpPr>
        <p:sp>
          <p:nvSpPr>
            <p:cNvPr id="16" name="Rectangle 16"/>
            <p:cNvSpPr/>
            <p:nvPr/>
          </p:nvSpPr>
          <p:spPr>
            <a:xfrm>
              <a:off x="533400" y="2819400"/>
              <a:ext cx="11125200" cy="1352550"/>
            </a:xfrm>
            <a:prstGeom prst="roundRect">
              <a:avLst>
                <a:gd name="adj" fmla="val 8451"/>
              </a:avLst>
            </a:prstGeom>
            <a:solidFill>
              <a:srgbClr val="FFFFFF"/>
            </a:solidFill>
            <a:ln w="9525">
              <a:solidFill>
                <a:srgbClr val="00A6A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0095" y="2984182"/>
              <a:ext cx="2977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每个Queue的CPE数据路径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143250" y="3286125"/>
              <a:ext cx="2000250" cy="590550"/>
            </a:xfrm>
            <a:prstGeom prst="roundRect">
              <a:avLst>
                <a:gd name="adj" fmla="val 12903"/>
              </a:avLst>
            </a:prstGeom>
            <a:solidFill>
              <a:srgbClr val="00A6A6">
                <a:alpha val="1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35721" y="3510439"/>
              <a:ext cx="12153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B1F3A"/>
                  </a:solidFill>
                  <a:latin typeface="Consolas"/>
                  <a:ea typeface="Microsoft YaHei"/>
                  <a:cs typeface="Consolas"/>
                </a:rPr>
                <a:t>VX_cp_fetch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143500" y="35814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28575">
              <a:solidFill>
                <a:srgbClr val="00A6A6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5648325" y="35147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762625" y="3286125"/>
              <a:ext cx="2000250" cy="590550"/>
            </a:xfrm>
            <a:prstGeom prst="roundRect">
              <a:avLst>
                <a:gd name="adj" fmla="val 12903"/>
              </a:avLst>
            </a:prstGeom>
            <a:solidFill>
              <a:srgbClr val="00A6A6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01327" y="3510439"/>
              <a:ext cx="13228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B1F3A"/>
                  </a:solidFill>
                  <a:latin typeface="Consolas"/>
                  <a:ea typeface="Microsoft YaHei"/>
                  <a:cs typeface="Consolas"/>
                </a:rPr>
                <a:t>VX_cp_unpack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762875" y="358140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28575">
              <a:solidFill>
                <a:srgbClr val="00A6A6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8267700" y="35147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382000" y="3286125"/>
              <a:ext cx="2000250" cy="590550"/>
            </a:xfrm>
            <a:prstGeom prst="roundRect">
              <a:avLst>
                <a:gd name="adj" fmla="val 12903"/>
              </a:avLst>
            </a:prstGeom>
            <a:solidFill>
              <a:srgbClr val="00A6A6">
                <a:alpha val="1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45142" y="3510439"/>
              <a:ext cx="127396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B1F3A"/>
                  </a:solidFill>
                  <a:latin typeface="Consolas"/>
                  <a:ea typeface="Microsoft YaHei"/>
                  <a:cs typeface="Consolas"/>
                </a:rPr>
                <a:t>VX_cp_engine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3400" y="4381500"/>
            <a:ext cx="11125200" cy="1428750"/>
            <a:chOff x="533400" y="4381500"/>
            <a:chExt cx="11125200" cy="1428750"/>
          </a:xfrm>
        </p:grpSpPr>
        <p:sp>
          <p:nvSpPr>
            <p:cNvPr id="29" name="Rectangle 29"/>
            <p:cNvSpPr/>
            <p:nvPr/>
          </p:nvSpPr>
          <p:spPr>
            <a:xfrm>
              <a:off x="533400" y="4381500"/>
              <a:ext cx="1112520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0B1F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0095" y="4565332"/>
              <a:ext cx="206616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共享执行与完成层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1050" y="4972050"/>
              <a:ext cx="1809750" cy="552450"/>
            </a:xfrm>
            <a:prstGeom prst="roundRect">
              <a:avLst>
                <a:gd name="adj" fmla="val 13793"/>
              </a:avLst>
            </a:prstGeom>
            <a:solidFill>
              <a:srgbClr val="0B1F3A">
                <a:alpha val="8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16648" y="5169218"/>
              <a:ext cx="13385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KMU / Launch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914650" y="4972050"/>
              <a:ext cx="1809750" cy="552450"/>
            </a:xfrm>
            <a:prstGeom prst="roundRect">
              <a:avLst>
                <a:gd name="adj" fmla="val 13793"/>
              </a:avLst>
            </a:prstGeom>
            <a:solidFill>
              <a:srgbClr val="0B1F3A">
                <a:alpha val="8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10881" y="5169218"/>
              <a:ext cx="4172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DMA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048250" y="4972050"/>
              <a:ext cx="1809750" cy="552450"/>
            </a:xfrm>
            <a:prstGeom prst="roundRect">
              <a:avLst>
                <a:gd name="adj" fmla="val 13793"/>
              </a:avLst>
            </a:prstGeom>
            <a:solidFill>
              <a:srgbClr val="0B1F3A">
                <a:alpha val="8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765184" y="5169218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DCR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181850" y="4972050"/>
              <a:ext cx="1809750" cy="552450"/>
            </a:xfrm>
            <a:prstGeom prst="roundRect">
              <a:avLst>
                <a:gd name="adj" fmla="val 13793"/>
              </a:avLst>
            </a:prstGeom>
            <a:solidFill>
              <a:srgbClr val="0B1F3A">
                <a:alpha val="8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84919" y="5169218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Event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315450" y="4972050"/>
              <a:ext cx="1809750" cy="552450"/>
            </a:xfrm>
            <a:prstGeom prst="roundRect">
              <a:avLst>
                <a:gd name="adj" fmla="val 13793"/>
              </a:avLst>
            </a:prstGeom>
            <a:solidFill>
              <a:srgbClr val="F59E0B">
                <a:alpha val="16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664913" y="5169218"/>
              <a:ext cx="11108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Completion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1970" y="6532245"/>
            <a:ext cx="11148060" cy="182880"/>
            <a:chOff x="521970" y="6532245"/>
            <a:chExt cx="11148060" cy="182880"/>
          </a:xfrm>
        </p:grpSpPr>
        <p:sp>
          <p:nvSpPr>
            <p:cNvPr id="42" name="TextBox 42"/>
            <p:cNvSpPr txBox="1"/>
            <p:nvPr/>
          </p:nvSpPr>
          <p:spPr>
            <a:xfrm>
              <a:off x="521970" y="6532245"/>
              <a:ext cx="23428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来源：Vortex CP RTL架构与实验指导书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39690" y="65322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28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9110" y="280035"/>
            <a:ext cx="11159490" cy="548640"/>
            <a:chOff x="499110" y="280035"/>
            <a:chExt cx="11159490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280035"/>
              <a:ext cx="78941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Baseline表明：首阶段瓶颈不是多队列仲裁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287000" y="3238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74984" y="426720"/>
              <a:ext cx="5956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BASELINE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781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33400" y="971550"/>
            <a:ext cx="11125200" cy="495300"/>
            <a:chOff x="533400" y="971550"/>
            <a:chExt cx="11125200" cy="495300"/>
          </a:xfrm>
        </p:grpSpPr>
        <p:sp>
          <p:nvSpPr>
            <p:cNvPr id="8" name="Rectangle 8"/>
            <p:cNvSpPr/>
            <p:nvPr/>
          </p:nvSpPr>
          <p:spPr>
            <a:xfrm>
              <a:off x="533400" y="971550"/>
              <a:ext cx="11125200" cy="495300"/>
            </a:xfrm>
            <a:prstGeom prst="roundRect">
              <a:avLst>
                <a:gd name="adj" fmla="val 15385"/>
              </a:avLst>
            </a:prstGeom>
            <a:solidFill>
              <a:srgbClr val="1565C0">
                <a:alpha val="8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23900" y="1133475"/>
              <a:ext cx="82616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单队列 arb_wait_cycles = 0，应先处理Engine固定开销、Fetch效率与资源等待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83131" y="1885950"/>
            <a:ext cx="6669984" cy="4031456"/>
            <a:chOff x="683131" y="1885950"/>
            <a:chExt cx="6669984" cy="4031456"/>
          </a:xfrm>
        </p:grpSpPr>
        <p:sp>
          <p:nvSpPr>
            <p:cNvPr id="11" name="Line 11"/>
            <p:cNvSpPr/>
            <p:nvPr/>
          </p:nvSpPr>
          <p:spPr>
            <a:xfrm>
              <a:off x="1104900" y="1885950"/>
              <a:ext cx="9525" cy="3543300"/>
            </a:xfrm>
            <a:custGeom>
              <a:avLst/>
              <a:gdLst/>
              <a:ahLst/>
              <a:cxnLst/>
              <a:rect l="l" t="t" r="r" b="b"/>
              <a:pathLst>
                <a:path w="9525" h="3543300">
                  <a:moveTo>
                    <a:pt x="0" y="0"/>
                  </a:moveTo>
                  <a:lnTo>
                    <a:pt x="0" y="3543300"/>
                  </a:lnTo>
                </a:path>
              </a:pathLst>
            </a:custGeom>
            <a:noFill/>
            <a:ln w="19050">
              <a:solidFill>
                <a:srgbClr val="D7DEE8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04900" y="5429250"/>
              <a:ext cx="6134100" cy="9525"/>
            </a:xfrm>
            <a:custGeom>
              <a:avLst/>
              <a:gdLst/>
              <a:ahLst/>
              <a:cxnLst/>
              <a:rect l="l" t="t" r="r" b="b"/>
              <a:pathLst>
                <a:path w="6134100" h="9525">
                  <a:moveTo>
                    <a:pt x="0" y="0"/>
                  </a:moveTo>
                  <a:lnTo>
                    <a:pt x="6134100" y="0"/>
                  </a:lnTo>
                </a:path>
              </a:pathLst>
            </a:custGeom>
            <a:noFill/>
            <a:ln w="19050">
              <a:solidFill>
                <a:srgbClr val="D7DEE8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2012" y="2594610"/>
              <a:ext cx="3971632" cy="359569"/>
              <a:chOff x="732012" y="2594610"/>
              <a:chExt cx="3971632" cy="359569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32012" y="2695099"/>
                <a:ext cx="19858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B1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104900" y="2594610"/>
                <a:ext cx="2982278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167101" y="2703195"/>
                <a:ext cx="536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7.688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83131" y="3040380"/>
              <a:ext cx="5239502" cy="359569"/>
              <a:chOff x="683131" y="3040380"/>
              <a:chExt cx="5239502" cy="35956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83131" y="3140869"/>
                <a:ext cx="24746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B2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104900" y="3040380"/>
                <a:ext cx="4146232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330883" y="3148965"/>
                <a:ext cx="59175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10.688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83131" y="3486150"/>
              <a:ext cx="6669984" cy="359569"/>
              <a:chOff x="683131" y="3486150"/>
              <a:chExt cx="6669984" cy="359569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683131" y="3586639"/>
                <a:ext cx="24746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B7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1104900" y="3486150"/>
                <a:ext cx="5576888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761365" y="3594735"/>
                <a:ext cx="59175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14.375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83131" y="3931920"/>
              <a:ext cx="4100906" cy="359569"/>
              <a:chOff x="683131" y="3931920"/>
              <a:chExt cx="4100906" cy="359569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683131" y="4032409"/>
                <a:ext cx="24746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B8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1104900" y="3931920"/>
                <a:ext cx="3062288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247494" y="4040505"/>
                <a:ext cx="536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7.895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83131" y="4377690"/>
              <a:ext cx="5117857" cy="359569"/>
              <a:chOff x="683131" y="4377690"/>
              <a:chExt cx="5117857" cy="359569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683131" y="4478179"/>
                <a:ext cx="24746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B9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1104900" y="4377690"/>
                <a:ext cx="4116705" cy="342900"/>
              </a:xfrm>
              <a:prstGeom prst="roundRect">
                <a:avLst>
                  <a:gd name="adj" fmla="val 11111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301249" y="4486275"/>
                <a:ext cx="49973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10.611</a:t>
                </a: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2803981" y="5688806"/>
              <a:ext cx="2583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Cycles per Command（越低越好）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0" y="1885950"/>
            <a:ext cx="4038600" cy="3543300"/>
            <a:chOff x="7620000" y="1885950"/>
            <a:chExt cx="4038600" cy="3543300"/>
          </a:xfrm>
        </p:grpSpPr>
        <p:sp>
          <p:nvSpPr>
            <p:cNvPr id="35" name="Rectangle 35"/>
            <p:cNvSpPr/>
            <p:nvPr/>
          </p:nvSpPr>
          <p:spPr>
            <a:xfrm>
              <a:off x="7620000" y="1885950"/>
              <a:ext cx="4038600" cy="354330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9525">
              <a:solidFill>
                <a:srgbClr val="D7DEE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84795" y="208883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三条基线判断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905750" y="245745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888605" y="2730818"/>
              <a:ext cx="19492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① DCR_READ等待更长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81010" y="3013710"/>
              <a:ext cx="28696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B2：DCR等待80 cycles，CPC 10.688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88605" y="3530918"/>
              <a:ext cx="27980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② Launch受固定busy周期影响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81010" y="3813810"/>
              <a:ext cx="26681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B7：KMU等待64 cycles，CPC最高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88605" y="4331018"/>
              <a:ext cx="1866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③ 仲裁不是当前矛盾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81010" y="4613910"/>
              <a:ext cx="3053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单队列所有workload的arb_wait均为0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1970" y="6532245"/>
            <a:ext cx="11148060" cy="182880"/>
            <a:chOff x="521970" y="6532245"/>
            <a:chExt cx="11148060" cy="182880"/>
          </a:xfrm>
        </p:grpSpPr>
        <p:sp>
          <p:nvSpPr>
            <p:cNvPr id="45" name="TextBox 45"/>
            <p:cNvSpPr txBox="1"/>
            <p:nvPr/>
          </p:nvSpPr>
          <p:spPr>
            <a:xfrm>
              <a:off x="521970" y="6532245"/>
              <a:ext cx="27700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来源：results/exp02/baseline_metrics.csv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39690" y="65322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4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9110" y="280035"/>
            <a:ext cx="11159490" cy="548640"/>
            <a:chOff x="499110" y="280035"/>
            <a:chExt cx="11159490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280035"/>
              <a:ext cx="75215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统一实验方法：先证明正确，再讨论性能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287000" y="3238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06038" y="426720"/>
              <a:ext cx="5335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METHOD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781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533400" y="1676400"/>
            <a:ext cx="10858500" cy="1390650"/>
            <a:chOff x="533400" y="1676400"/>
            <a:chExt cx="10858500" cy="1390650"/>
          </a:xfrm>
        </p:grpSpPr>
        <p:grpSp>
          <p:nvGrpSpPr>
            <p:cNvPr id="15" name="Group 15"/>
            <p:cNvGrpSpPr/>
            <p:nvPr/>
          </p:nvGrpSpPr>
          <p:grpSpPr>
            <a:xfrm>
              <a:off x="533400" y="1676400"/>
              <a:ext cx="2209800" cy="1390650"/>
              <a:chOff x="533400" y="1676400"/>
              <a:chExt cx="2209800" cy="13906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33400" y="1676400"/>
                <a:ext cx="1866900" cy="1390650"/>
              </a:xfrm>
              <a:prstGeom prst="roundRect">
                <a:avLst>
                  <a:gd name="adj" fmla="val 8219"/>
                </a:avLst>
              </a:prstGeom>
              <a:solidFill>
                <a:srgbClr val="FFFFFF"/>
              </a:solidFill>
              <a:ln w="9525">
                <a:solidFill>
                  <a:srgbClr val="D7DEE8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666750" y="1809750"/>
                <a:ext cx="342900" cy="3429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95357" y="1918335"/>
                <a:ext cx="85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41045" y="2241232"/>
                <a:ext cx="102873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B1F3A"/>
                    </a:solidFill>
                    <a:latin typeface="Arial"/>
                    <a:ea typeface="Microsoft YaHei"/>
                    <a:cs typeface="Arial"/>
                  </a:rPr>
                  <a:t>Baseline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47712" y="2602706"/>
                <a:ext cx="13430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周期、流量、等待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2400300" y="2371725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">
                    <a:moveTo>
                      <a:pt x="0" y="0"/>
                    </a:moveTo>
                    <a:lnTo>
                      <a:pt x="342900" y="0"/>
                    </a:lnTo>
                  </a:path>
                </a:pathLst>
              </a:custGeom>
              <a:noFill/>
              <a:ln w="28575">
                <a:solidFill>
                  <a:srgbClr val="00A6A6"/>
                </a:solidFill>
              </a:ln>
            </p:spPr>
          </p:sp>
          <p:sp>
            <p:nvSpPr>
              <p:cNvPr id="14" name="Polygon 14"/>
              <p:cNvSpPr/>
              <p:nvPr/>
            </p:nvSpPr>
            <p:spPr>
              <a:xfrm>
                <a:off x="2628900" y="2305050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114300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2781300" y="1676400"/>
              <a:ext cx="2209800" cy="1390650"/>
              <a:chOff x="2781300" y="1676400"/>
              <a:chExt cx="2209800" cy="13906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781300" y="1676400"/>
                <a:ext cx="1866900" cy="1390650"/>
              </a:xfrm>
              <a:prstGeom prst="roundRect">
                <a:avLst>
                  <a:gd name="adj" fmla="val 8219"/>
                </a:avLst>
              </a:prstGeom>
              <a:solidFill>
                <a:srgbClr val="FFFFFF"/>
              </a:solidFill>
              <a:ln w="9525">
                <a:solidFill>
                  <a:srgbClr val="D7DEE8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2914650" y="1809750"/>
                <a:ext cx="342900" cy="3429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020254" y="1918335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988945" y="2241232"/>
                <a:ext cx="54797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B1F3A"/>
                    </a:solidFill>
                    <a:latin typeface="Arial"/>
                    <a:ea typeface="Microsoft YaHei"/>
                    <a:cs typeface="Arial"/>
                  </a:rPr>
                  <a:t>定位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995612" y="2602706"/>
                <a:ext cx="11787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锁定可解释瓶颈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4648200" y="2371725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">
                    <a:moveTo>
                      <a:pt x="0" y="0"/>
                    </a:moveTo>
                    <a:lnTo>
                      <a:pt x="342900" y="0"/>
                    </a:lnTo>
                  </a:path>
                </a:pathLst>
              </a:custGeom>
              <a:noFill/>
              <a:ln w="28575">
                <a:solidFill>
                  <a:srgbClr val="00A6A6"/>
                </a:solidFill>
              </a:ln>
            </p:spPr>
          </p:sp>
          <p:sp>
            <p:nvSpPr>
              <p:cNvPr id="22" name="Polygon 22"/>
              <p:cNvSpPr/>
              <p:nvPr/>
            </p:nvSpPr>
            <p:spPr>
              <a:xfrm>
                <a:off x="4876800" y="2305050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114300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5029200" y="1676400"/>
              <a:ext cx="2209800" cy="1390650"/>
              <a:chOff x="5029200" y="1676400"/>
              <a:chExt cx="2209800" cy="13906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029200" y="1676400"/>
                <a:ext cx="1866900" cy="1390650"/>
              </a:xfrm>
              <a:prstGeom prst="roundRect">
                <a:avLst>
                  <a:gd name="adj" fmla="val 8219"/>
                </a:avLst>
              </a:prstGeom>
              <a:solidFill>
                <a:srgbClr val="FFFFFF"/>
              </a:solidFill>
              <a:ln w="9525">
                <a:solidFill>
                  <a:srgbClr val="D7DEE8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5162550" y="1809750"/>
                <a:ext cx="342900" cy="3429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268154" y="1918335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236845" y="2241232"/>
                <a:ext cx="54797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B1F3A"/>
                    </a:solidFill>
                    <a:latin typeface="Arial"/>
                    <a:ea typeface="Microsoft YaHei"/>
                    <a:cs typeface="Arial"/>
                  </a:rPr>
                  <a:t>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243512" y="2602706"/>
                <a:ext cx="15073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参数化RTL/Runtime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6896100" y="2371725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">
                    <a:moveTo>
                      <a:pt x="0" y="0"/>
                    </a:moveTo>
                    <a:lnTo>
                      <a:pt x="342900" y="0"/>
                    </a:lnTo>
                  </a:path>
                </a:pathLst>
              </a:custGeom>
              <a:noFill/>
              <a:ln w="28575">
                <a:solidFill>
                  <a:srgbClr val="00A6A6"/>
                </a:solidFill>
              </a:ln>
            </p:spPr>
          </p:sp>
          <p:sp>
            <p:nvSpPr>
              <p:cNvPr id="30" name="Polygon 30"/>
              <p:cNvSpPr/>
              <p:nvPr/>
            </p:nvSpPr>
            <p:spPr>
              <a:xfrm>
                <a:off x="7124700" y="2305050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114300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7277100" y="1676400"/>
              <a:ext cx="2209800" cy="1390650"/>
              <a:chOff x="7277100" y="1676400"/>
              <a:chExt cx="2209800" cy="13906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7277100" y="1676400"/>
                <a:ext cx="1866900" cy="1390650"/>
              </a:xfrm>
              <a:prstGeom prst="roundRect">
                <a:avLst>
                  <a:gd name="adj" fmla="val 8219"/>
                </a:avLst>
              </a:prstGeom>
              <a:solidFill>
                <a:srgbClr val="FFFFFF"/>
              </a:solidFill>
              <a:ln w="9525">
                <a:solidFill>
                  <a:srgbClr val="D7DEE8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7410450" y="1809750"/>
                <a:ext cx="342900" cy="3429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516054" y="1918335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484745" y="2241232"/>
                <a:ext cx="54797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B1F3A"/>
                    </a:solidFill>
                    <a:latin typeface="Arial"/>
                    <a:ea typeface="Microsoft YaHei"/>
                    <a:cs typeface="Arial"/>
                  </a:rPr>
                  <a:t>验证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491412" y="2602706"/>
                <a:ext cx="13430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边界、压力、回归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9144000" y="2371725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">
                    <a:moveTo>
                      <a:pt x="0" y="0"/>
                    </a:moveTo>
                    <a:lnTo>
                      <a:pt x="342900" y="0"/>
                    </a:lnTo>
                  </a:path>
                </a:pathLst>
              </a:custGeom>
              <a:noFill/>
              <a:ln w="28575">
                <a:solidFill>
                  <a:srgbClr val="00A6A6"/>
                </a:solidFill>
              </a:ln>
            </p:spPr>
          </p:sp>
          <p:sp>
            <p:nvSpPr>
              <p:cNvPr id="38" name="Polygon 38"/>
              <p:cNvSpPr/>
              <p:nvPr/>
            </p:nvSpPr>
            <p:spPr>
              <a:xfrm>
                <a:off x="9372600" y="2305050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114300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9525000" y="1676400"/>
              <a:ext cx="1866900" cy="1390650"/>
              <a:chOff x="9525000" y="1676400"/>
              <a:chExt cx="1866900" cy="13906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9525000" y="1676400"/>
                <a:ext cx="1866900" cy="1390650"/>
              </a:xfrm>
              <a:prstGeom prst="roundRect">
                <a:avLst>
                  <a:gd name="adj" fmla="val 8219"/>
                </a:avLst>
              </a:prstGeom>
              <a:solidFill>
                <a:srgbClr val="FFFFFF"/>
              </a:solidFill>
              <a:ln w="9525">
                <a:solidFill>
                  <a:srgbClr val="F59E0B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9658350" y="1809750"/>
                <a:ext cx="342900" cy="3429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763954" y="1918335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732645" y="2241232"/>
                <a:ext cx="54797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B1F3A"/>
                    </a:solidFill>
                    <a:latin typeface="Arial"/>
                    <a:ea typeface="Microsoft YaHei"/>
                    <a:cs typeface="Arial"/>
                  </a:rPr>
                  <a:t>决策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739312" y="2602706"/>
                <a:ext cx="13348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性能 × PPA × 场景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533400" y="3371850"/>
            <a:ext cx="6858000" cy="2457450"/>
            <a:chOff x="533400" y="3371850"/>
            <a:chExt cx="6858000" cy="2457450"/>
          </a:xfrm>
        </p:grpSpPr>
        <p:sp>
          <p:nvSpPr>
            <p:cNvPr id="47" name="Rectangle 47"/>
            <p:cNvSpPr/>
            <p:nvPr/>
          </p:nvSpPr>
          <p:spPr>
            <a:xfrm>
              <a:off x="533400" y="3371850"/>
              <a:ext cx="6858000" cy="2457450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9525">
              <a:solidFill>
                <a:srgbClr val="D7DEE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9145" y="35747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统一指标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838200" y="4017169"/>
              <a:ext cx="2651045" cy="304800"/>
              <a:chOff x="838200" y="4017169"/>
              <a:chExt cx="2651045" cy="304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38200" y="4017169"/>
                <a:ext cx="266700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16694">
                    <a:moveTo>
                      <a:pt x="29247" y="216694"/>
                    </a:moveTo>
                    <a:cubicBezTo>
                      <a:pt x="10947" y="193864"/>
                      <a:pt x="0" y="164886"/>
                      <a:pt x="0" y="133350"/>
                    </a:cubicBezTo>
                    <a:cubicBezTo>
                      <a:pt x="0" y="59703"/>
                      <a:pt x="59703" y="0"/>
                      <a:pt x="133350" y="0"/>
                    </a:cubicBezTo>
                    <a:cubicBezTo>
                      <a:pt x="206998" y="0"/>
                      <a:pt x="266700" y="59703"/>
                      <a:pt x="266700" y="133350"/>
                    </a:cubicBezTo>
                    <a:cubicBezTo>
                      <a:pt x="266700" y="164886"/>
                      <a:pt x="255754" y="193864"/>
                      <a:pt x="237453" y="216694"/>
                    </a:cubicBezTo>
                    <a:lnTo>
                      <a:pt x="153381" y="216694"/>
                    </a:lnTo>
                    <a:lnTo>
                      <a:pt x="212265" y="153001"/>
                    </a:lnTo>
                    <a:lnTo>
                      <a:pt x="187785" y="130369"/>
                    </a:lnTo>
                    <a:lnTo>
                      <a:pt x="107980" y="216694"/>
                    </a:lnTo>
                    <a:lnTo>
                      <a:pt x="29247" y="216694"/>
                    </a:lnTo>
                    <a:close/>
                    <a:moveTo>
                      <a:pt x="116681" y="50006"/>
                    </a:moveTo>
                    <a:cubicBezTo>
                      <a:pt x="116681" y="59212"/>
                      <a:pt x="124144" y="66675"/>
                      <a:pt x="133350" y="66675"/>
                    </a:cubicBezTo>
                    <a:cubicBezTo>
                      <a:pt x="142556" y="66675"/>
                      <a:pt x="150019" y="59212"/>
                      <a:pt x="150019" y="50006"/>
                    </a:cubicBezTo>
                    <a:cubicBezTo>
                      <a:pt x="150019" y="40800"/>
                      <a:pt x="142556" y="33338"/>
                      <a:pt x="133350" y="33338"/>
                    </a:cubicBezTo>
                    <a:cubicBezTo>
                      <a:pt x="124144" y="33338"/>
                      <a:pt x="116681" y="40800"/>
                      <a:pt x="116681" y="50006"/>
                    </a:cubicBezTo>
                    <a:close/>
                    <a:moveTo>
                      <a:pt x="191691" y="91678"/>
                    </a:moveTo>
                    <a:cubicBezTo>
                      <a:pt x="182484" y="91678"/>
                      <a:pt x="175022" y="84215"/>
                      <a:pt x="175022" y="75009"/>
                    </a:cubicBezTo>
                    <a:cubicBezTo>
                      <a:pt x="175022" y="65804"/>
                      <a:pt x="182484" y="58341"/>
                      <a:pt x="191691" y="58341"/>
                    </a:cubicBezTo>
                    <a:cubicBezTo>
                      <a:pt x="200897" y="58341"/>
                      <a:pt x="208359" y="65804"/>
                      <a:pt x="208359" y="75009"/>
                    </a:cubicBezTo>
                    <a:cubicBezTo>
                      <a:pt x="208359" y="84215"/>
                      <a:pt x="200897" y="91678"/>
                      <a:pt x="191691" y="91678"/>
                    </a:cubicBezTo>
                    <a:close/>
                    <a:moveTo>
                      <a:pt x="33338" y="133350"/>
                    </a:moveTo>
                    <a:cubicBezTo>
                      <a:pt x="33338" y="142556"/>
                      <a:pt x="40800" y="150019"/>
                      <a:pt x="50006" y="150019"/>
                    </a:cubicBezTo>
                    <a:cubicBezTo>
                      <a:pt x="59212" y="150019"/>
                      <a:pt x="66675" y="142556"/>
                      <a:pt x="66675" y="133350"/>
                    </a:cubicBezTo>
                    <a:cubicBezTo>
                      <a:pt x="66675" y="124144"/>
                      <a:pt x="59212" y="116681"/>
                      <a:pt x="50006" y="116681"/>
                    </a:cubicBezTo>
                    <a:cubicBezTo>
                      <a:pt x="40800" y="116681"/>
                      <a:pt x="33338" y="124144"/>
                      <a:pt x="33338" y="133350"/>
                    </a:cubicBezTo>
                    <a:close/>
                    <a:moveTo>
                      <a:pt x="75009" y="91678"/>
                    </a:moveTo>
                    <a:cubicBezTo>
                      <a:pt x="65804" y="91678"/>
                      <a:pt x="58341" y="84215"/>
                      <a:pt x="58341" y="75009"/>
                    </a:cubicBezTo>
                    <a:cubicBezTo>
                      <a:pt x="58341" y="65804"/>
                      <a:pt x="65804" y="58341"/>
                      <a:pt x="75009" y="58341"/>
                    </a:cubicBezTo>
                    <a:cubicBezTo>
                      <a:pt x="84215" y="58341"/>
                      <a:pt x="91678" y="65804"/>
                      <a:pt x="91678" y="75009"/>
                    </a:cubicBezTo>
                    <a:cubicBezTo>
                      <a:pt x="91678" y="84215"/>
                      <a:pt x="84215" y="91678"/>
                      <a:pt x="75009" y="91678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222058" y="4062889"/>
                <a:ext cx="42343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性能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195512" y="4079081"/>
                <a:ext cx="129373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A"/>
                    </a:solidFill>
                    <a:latin typeface="Consolas"/>
                    <a:ea typeface="Microsoft YaHei"/>
                    <a:cs typeface="Consolas"/>
                  </a:rPr>
                  <a:t>CPC · Cmd/Cycle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871538" y="4410075"/>
              <a:ext cx="3463884" cy="321469"/>
              <a:chOff x="871538" y="4410075"/>
              <a:chExt cx="3463884" cy="321469"/>
            </a:xfrm>
          </p:grpSpPr>
          <p:grpSp>
            <p:nvGrpSpPr>
              <p:cNvPr id="56" name="Group 56"/>
              <p:cNvGrpSpPr/>
              <p:nvPr/>
            </p:nvGrpSpPr>
            <p:grpSpPr>
              <a:xfrm>
                <a:off x="871538" y="4410075"/>
                <a:ext cx="200025" cy="266700"/>
                <a:chOff x="871538" y="4410075"/>
                <a:chExt cx="200025" cy="266700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871538" y="4516755"/>
                  <a:ext cx="200025" cy="76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76676">
                      <a:moveTo>
                        <a:pt x="185642" y="8504"/>
                      </a:moveTo>
                      <a:cubicBezTo>
                        <a:pt x="190330" y="6159"/>
                        <a:pt x="195229" y="3330"/>
                        <a:pt x="200025" y="0"/>
                      </a:cubicBezTo>
                      <a:lnTo>
                        <a:pt x="200025" y="26670"/>
                      </a:lnTo>
                      <a:cubicBezTo>
                        <a:pt x="200025" y="54287"/>
                        <a:pt x="155248" y="76676"/>
                        <a:pt x="100012" y="76676"/>
                      </a:cubicBezTo>
                      <a:cubicBezTo>
                        <a:pt x="44777" y="76676"/>
                        <a:pt x="0" y="54287"/>
                        <a:pt x="0" y="26670"/>
                      </a:cubicBezTo>
                      <a:lnTo>
                        <a:pt x="0" y="0"/>
                      </a:lnTo>
                      <a:cubicBezTo>
                        <a:pt x="4796" y="3330"/>
                        <a:pt x="9694" y="6159"/>
                        <a:pt x="14384" y="8504"/>
                      </a:cubicBezTo>
                      <a:cubicBezTo>
                        <a:pt x="38021" y="20322"/>
                        <a:pt x="68342" y="26670"/>
                        <a:pt x="100012" y="26670"/>
                      </a:cubicBezTo>
                      <a:cubicBezTo>
                        <a:pt x="131683" y="26670"/>
                        <a:pt x="162004" y="20322"/>
                        <a:pt x="185642" y="8504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871538" y="4600099"/>
                  <a:ext cx="200025" cy="76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76676">
                      <a:moveTo>
                        <a:pt x="0" y="0"/>
                      </a:moveTo>
                      <a:lnTo>
                        <a:pt x="0" y="26670"/>
                      </a:lnTo>
                      <a:cubicBezTo>
                        <a:pt x="0" y="54288"/>
                        <a:pt x="44777" y="76676"/>
                        <a:pt x="100012" y="76676"/>
                      </a:cubicBezTo>
                      <a:cubicBezTo>
                        <a:pt x="155248" y="76676"/>
                        <a:pt x="200025" y="54288"/>
                        <a:pt x="200025" y="26670"/>
                      </a:cubicBezTo>
                      <a:lnTo>
                        <a:pt x="200025" y="0"/>
                      </a:lnTo>
                      <a:cubicBezTo>
                        <a:pt x="195229" y="3330"/>
                        <a:pt x="190330" y="6159"/>
                        <a:pt x="185642" y="8504"/>
                      </a:cubicBezTo>
                      <a:cubicBezTo>
                        <a:pt x="162004" y="20323"/>
                        <a:pt x="131683" y="26670"/>
                        <a:pt x="100012" y="26670"/>
                      </a:cubicBezTo>
                      <a:cubicBezTo>
                        <a:pt x="68342" y="26670"/>
                        <a:pt x="38021" y="20323"/>
                        <a:pt x="14384" y="8504"/>
                      </a:cubicBezTo>
                      <a:cubicBezTo>
                        <a:pt x="9694" y="6159"/>
                        <a:pt x="4796" y="3330"/>
                        <a:pt x="0" y="0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871538" y="4410075"/>
                  <a:ext cx="2000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0012">
                      <a:moveTo>
                        <a:pt x="100012" y="0"/>
                      </a:moveTo>
                      <a:cubicBezTo>
                        <a:pt x="155248" y="0"/>
                        <a:pt x="200025" y="22389"/>
                        <a:pt x="200025" y="50006"/>
                      </a:cubicBezTo>
                      <a:cubicBezTo>
                        <a:pt x="200025" y="77624"/>
                        <a:pt x="155248" y="100012"/>
                        <a:pt x="100012" y="100012"/>
                      </a:cubicBezTo>
                      <a:cubicBezTo>
                        <a:pt x="44777" y="100012"/>
                        <a:pt x="0" y="77624"/>
                        <a:pt x="0" y="50006"/>
                      </a:cubicBezTo>
                      <a:cubicBezTo>
                        <a:pt x="0" y="22389"/>
                        <a:pt x="44777" y="0"/>
                        <a:pt x="100012" y="0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1222058" y="4472464"/>
                <a:ext cx="42343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流量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2195512" y="4488656"/>
                <a:ext cx="21399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A"/>
                    </a:solidFill>
                    <a:latin typeface="Consolas"/>
                    <a:ea typeface="Microsoft YaHei"/>
                    <a:cs typeface="Consolas"/>
                  </a:rPr>
                  <a:t>Fetch CL · Bytes/Command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854869" y="4819650"/>
              <a:ext cx="3414831" cy="321469"/>
              <a:chOff x="854869" y="4819650"/>
              <a:chExt cx="3414831" cy="321469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54869" y="4819650"/>
                <a:ext cx="23336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66700">
                    <a:moveTo>
                      <a:pt x="116681" y="266700"/>
                    </a:moveTo>
                    <a:lnTo>
                      <a:pt x="55842" y="223243"/>
                    </a:lnTo>
                    <a:cubicBezTo>
                      <a:pt x="20798" y="198211"/>
                      <a:pt x="0" y="157798"/>
                      <a:pt x="0" y="114732"/>
                    </a:cubicBezTo>
                    <a:lnTo>
                      <a:pt x="0" y="50006"/>
                    </a:lnTo>
                    <a:lnTo>
                      <a:pt x="116681" y="0"/>
                    </a:lnTo>
                    <a:lnTo>
                      <a:pt x="233362" y="50006"/>
                    </a:lnTo>
                    <a:lnTo>
                      <a:pt x="233362" y="114732"/>
                    </a:lnTo>
                    <a:cubicBezTo>
                      <a:pt x="233362" y="157798"/>
                      <a:pt x="212565" y="198211"/>
                      <a:pt x="177521" y="223243"/>
                    </a:cubicBezTo>
                    <a:lnTo>
                      <a:pt x="116681" y="266700"/>
                    </a:lnTo>
                    <a:close/>
                    <a:moveTo>
                      <a:pt x="186808" y="95130"/>
                    </a:moveTo>
                    <a:lnTo>
                      <a:pt x="163235" y="71557"/>
                    </a:lnTo>
                    <a:lnTo>
                      <a:pt x="100012" y="134780"/>
                    </a:lnTo>
                    <a:lnTo>
                      <a:pt x="70127" y="104895"/>
                    </a:lnTo>
                    <a:lnTo>
                      <a:pt x="46554" y="128468"/>
                    </a:lnTo>
                    <a:lnTo>
                      <a:pt x="100012" y="181926"/>
                    </a:lnTo>
                    <a:lnTo>
                      <a:pt x="186808" y="95130"/>
                    </a:lnTo>
                    <a:close/>
                  </a:path>
                </a:pathLst>
              </a:custGeom>
              <a:solidFill>
                <a:srgbClr val="138A5B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1222058" y="4882039"/>
                <a:ext cx="61895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正确性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2195512" y="4898231"/>
                <a:ext cx="20741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A"/>
                    </a:solidFill>
                    <a:latin typeface="Consolas"/>
                    <a:ea typeface="Microsoft YaHei"/>
                    <a:cs typeface="Consolas"/>
                  </a:rPr>
                  <a:t>seqnum · drop · duplicate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838200" y="5229225"/>
              <a:ext cx="3480792" cy="321469"/>
              <a:chOff x="838200" y="5229225"/>
              <a:chExt cx="3480792" cy="321469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38200" y="5229225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33350" y="266700"/>
                    </a:moveTo>
                    <a:cubicBezTo>
                      <a:pt x="206998" y="266700"/>
                      <a:pt x="266700" y="206998"/>
                      <a:pt x="266700" y="133350"/>
                    </a:cubicBezTo>
                    <a:cubicBezTo>
                      <a:pt x="266700" y="59703"/>
                      <a:pt x="206998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  <a:cubicBezTo>
                      <a:pt x="0" y="206998"/>
                      <a:pt x="59703" y="266700"/>
                      <a:pt x="133350" y="266700"/>
                    </a:cubicBezTo>
                    <a:close/>
                    <a:moveTo>
                      <a:pt x="116681" y="50006"/>
                    </a:moveTo>
                    <a:lnTo>
                      <a:pt x="116681" y="140254"/>
                    </a:lnTo>
                    <a:lnTo>
                      <a:pt x="171570" y="195143"/>
                    </a:lnTo>
                    <a:lnTo>
                      <a:pt x="195143" y="171570"/>
                    </a:lnTo>
                    <a:lnTo>
                      <a:pt x="150019" y="126446"/>
                    </a:lnTo>
                    <a:lnTo>
                      <a:pt x="150019" y="50006"/>
                    </a:lnTo>
                    <a:lnTo>
                      <a:pt x="116681" y="50006"/>
                    </a:lnTo>
                    <a:close/>
                  </a:path>
                </a:pathLst>
              </a:custGeom>
              <a:solidFill>
                <a:srgbClr val="D64545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1222058" y="5291614"/>
                <a:ext cx="42343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2195512" y="5307806"/>
                <a:ext cx="212348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A"/>
                    </a:solidFill>
                    <a:latin typeface="Consolas"/>
                    <a:ea typeface="Microsoft YaHei"/>
                    <a:cs typeface="Consolas"/>
                  </a:rPr>
                  <a:t>FPGA LC · ASIC area · Fmax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7677150" y="3371850"/>
            <a:ext cx="3981450" cy="2457450"/>
            <a:chOff x="7677150" y="3371850"/>
            <a:chExt cx="3981450" cy="2457450"/>
          </a:xfrm>
        </p:grpSpPr>
        <p:sp>
          <p:nvSpPr>
            <p:cNvPr id="69" name="Rectangle 69"/>
            <p:cNvSpPr/>
            <p:nvPr/>
          </p:nvSpPr>
          <p:spPr>
            <a:xfrm>
              <a:off x="7677150" y="3371850"/>
              <a:ext cx="3981450" cy="2457450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9525">
              <a:solidFill>
                <a:srgbClr val="D64545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922895" y="3574732"/>
              <a:ext cx="28252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64545"/>
                  </a:solidFill>
                  <a:latin typeface="Arial"/>
                  <a:ea typeface="Microsoft YaHei"/>
                  <a:cs typeface="Arial"/>
                </a:rPr>
                <a:t>实验三带来的严谨性约束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927658" y="4034314"/>
              <a:ext cx="33469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DMA尾拍WSTRB修复已被边界测试证明；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927658" y="4348639"/>
              <a:ext cx="30024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但单元测试没有完整Ring取指链路，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927658" y="4662964"/>
              <a:ext cx="30211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因此不能直接宣称“冲掉命令Ring”。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928610" y="5185410"/>
              <a:ext cx="31588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结论必须与验证现场的能力边界一致。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21970" y="6532245"/>
            <a:ext cx="11148060" cy="182880"/>
            <a:chOff x="521970" y="6532245"/>
            <a:chExt cx="11148060" cy="182880"/>
          </a:xfrm>
        </p:grpSpPr>
        <p:sp>
          <p:nvSpPr>
            <p:cNvPr id="76" name="TextBox 76"/>
            <p:cNvSpPr txBox="1"/>
            <p:nvPr/>
          </p:nvSpPr>
          <p:spPr>
            <a:xfrm>
              <a:off x="521970" y="6532245"/>
              <a:ext cx="25531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来源：实验2性能基线、实验3 DMA边界验证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239690" y="65322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68" grpId="0"/>
      <p:bldP spid="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9110" y="280035"/>
            <a:ext cx="11159490" cy="548640"/>
            <a:chOff x="499110" y="280035"/>
            <a:chExt cx="11159490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280035"/>
              <a:ext cx="816329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Fast Path删除NOP路径中的一周期固定开销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287000" y="3238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526616" y="426720"/>
              <a:ext cx="8923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EXPERIMENT 4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781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33400" y="1066800"/>
            <a:ext cx="3429000" cy="4686300"/>
            <a:chOff x="533400" y="1066800"/>
            <a:chExt cx="3429000" cy="4686300"/>
          </a:xfrm>
        </p:grpSpPr>
        <p:sp>
          <p:nvSpPr>
            <p:cNvPr id="8" name="Rectangle 8"/>
            <p:cNvSpPr/>
            <p:nvPr/>
          </p:nvSpPr>
          <p:spPr>
            <a:xfrm>
              <a:off x="533400" y="1066800"/>
              <a:ext cx="3429000" cy="46863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F59E0B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52488" y="1352550"/>
              <a:ext cx="314325" cy="419100"/>
            </a:xfrm>
            <a:custGeom>
              <a:avLst/>
              <a:gdLst/>
              <a:ahLst/>
              <a:cxnLst/>
              <a:rect l="l" t="t" r="r" b="b"/>
              <a:pathLst>
                <a:path w="314325" h="419100">
                  <a:moveTo>
                    <a:pt x="183356" y="183356"/>
                  </a:moveTo>
                  <a:lnTo>
                    <a:pt x="209550" y="0"/>
                  </a:lnTo>
                  <a:lnTo>
                    <a:pt x="157162" y="0"/>
                  </a:lnTo>
                  <a:lnTo>
                    <a:pt x="0" y="183356"/>
                  </a:lnTo>
                  <a:lnTo>
                    <a:pt x="0" y="235744"/>
                  </a:lnTo>
                  <a:lnTo>
                    <a:pt x="130969" y="235744"/>
                  </a:lnTo>
                  <a:lnTo>
                    <a:pt x="104775" y="419100"/>
                  </a:lnTo>
                  <a:lnTo>
                    <a:pt x="157162" y="419100"/>
                  </a:lnTo>
                  <a:lnTo>
                    <a:pt x="314325" y="235744"/>
                  </a:lnTo>
                  <a:lnTo>
                    <a:pt x="314325" y="183356"/>
                  </a:lnTo>
                  <a:lnTo>
                    <a:pt x="183356" y="183356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7240" y="1844040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为什么做？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2955" y="2254568"/>
              <a:ext cx="24397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NOP不申请KMU、DMA、DCR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2955" y="2540318"/>
              <a:ext cx="2646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或Event资源，DECODE只承担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2955" y="282606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固定的一周期状态跳转。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1050" y="3362325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机会：直接退休简单命令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64355" y="1244918"/>
            <a:ext cx="5941695" cy="2679382"/>
            <a:chOff x="4364355" y="1244918"/>
            <a:chExt cx="5941695" cy="2679382"/>
          </a:xfrm>
        </p:grpSpPr>
        <p:sp>
          <p:nvSpPr>
            <p:cNvPr id="16" name="TextBox 16"/>
            <p:cNvSpPr txBox="1"/>
            <p:nvPr/>
          </p:nvSpPr>
          <p:spPr>
            <a:xfrm>
              <a:off x="4364355" y="1244918"/>
              <a:ext cx="8934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BASELINE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81500" y="1638300"/>
              <a:ext cx="1619250" cy="704850"/>
            </a:xfrm>
            <a:prstGeom prst="roundRect">
              <a:avLst>
                <a:gd name="adj" fmla="val 13514"/>
              </a:avLst>
            </a:prstGeom>
            <a:solidFill>
              <a:srgbClr val="1565C0">
                <a:alpha val="14000"/>
              </a:srgbClr>
            </a:solidFill>
            <a:ln w="9525">
              <a:solidFill>
                <a:srgbClr val="1565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72130" y="1911668"/>
              <a:ext cx="4379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1F3A"/>
                  </a:solidFill>
                  <a:latin typeface="Consolas"/>
                  <a:ea typeface="Microsoft YaHei"/>
                  <a:cs typeface="Consolas"/>
                </a:rPr>
                <a:t>IDLE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00750" y="19907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6362700" y="19240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534150" y="1638300"/>
              <a:ext cx="1619250" cy="704850"/>
            </a:xfrm>
            <a:prstGeom prst="roundRect">
              <a:avLst>
                <a:gd name="adj" fmla="val 13514"/>
              </a:avLst>
            </a:prstGeom>
            <a:solidFill>
              <a:srgbClr val="F59E0B">
                <a:alpha val="14000"/>
              </a:srgbClr>
            </a:solidFill>
            <a:ln w="9525">
              <a:solidFill>
                <a:srgbClr val="F59E0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64335" y="1911668"/>
              <a:ext cx="7588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1F3A"/>
                  </a:solidFill>
                  <a:latin typeface="Consolas"/>
                  <a:ea typeface="Microsoft YaHei"/>
                  <a:cs typeface="Consolas"/>
                </a:rPr>
                <a:t>DECODE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153400" y="19907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8515350" y="19240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686800" y="1638300"/>
              <a:ext cx="1619250" cy="704850"/>
            </a:xfrm>
            <a:prstGeom prst="roundRect">
              <a:avLst>
                <a:gd name="adj" fmla="val 13514"/>
              </a:avLst>
            </a:prstGeom>
            <a:solidFill>
              <a:srgbClr val="1565C0">
                <a:alpha val="14000"/>
              </a:srgbClr>
            </a:solidFill>
            <a:ln w="9525">
              <a:solidFill>
                <a:srgbClr val="1565C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63566" y="1911668"/>
              <a:ext cx="6657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1F3A"/>
                  </a:solidFill>
                  <a:latin typeface="Consolas"/>
                  <a:ea typeface="Microsoft YaHei"/>
                  <a:cs typeface="Consolas"/>
                </a:rPr>
                <a:t>RETIRE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64355" y="2845118"/>
              <a:ext cx="10073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FAST PATH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381500" y="3219450"/>
              <a:ext cx="1619250" cy="704850"/>
            </a:xfrm>
            <a:prstGeom prst="roundRect">
              <a:avLst>
                <a:gd name="adj" fmla="val 13514"/>
              </a:avLst>
            </a:prstGeom>
            <a:solidFill>
              <a:srgbClr val="00A6A6">
                <a:alpha val="14000"/>
              </a:srgbClr>
            </a:solidFill>
            <a:ln w="9525">
              <a:solidFill>
                <a:srgbClr val="00A6A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972130" y="3492818"/>
              <a:ext cx="4379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1F3A"/>
                  </a:solidFill>
                  <a:latin typeface="Consolas"/>
                  <a:ea typeface="Microsoft YaHei"/>
                  <a:cs typeface="Consolas"/>
                </a:rPr>
                <a:t>IDLE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000750" y="3571875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38100">
              <a:solidFill>
                <a:srgbClr val="00A6A6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8496300" y="349567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629650" y="3219450"/>
              <a:ext cx="1619250" cy="704850"/>
            </a:xfrm>
            <a:prstGeom prst="roundRect">
              <a:avLst>
                <a:gd name="adj" fmla="val 13514"/>
              </a:avLst>
            </a:prstGeom>
            <a:solidFill>
              <a:srgbClr val="00A6A6">
                <a:alpha val="14000"/>
              </a:srgbClr>
            </a:solidFill>
            <a:ln w="9525">
              <a:solidFill>
                <a:srgbClr val="00A6A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06416" y="3492818"/>
              <a:ext cx="6657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1F3A"/>
                  </a:solidFill>
                  <a:latin typeface="Consolas"/>
                  <a:ea typeface="Microsoft YaHei"/>
                  <a:cs typeface="Consolas"/>
                </a:rPr>
                <a:t>RETIRE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381500" y="4286250"/>
            <a:ext cx="7277100" cy="1466850"/>
            <a:chOff x="4381500" y="4286250"/>
            <a:chExt cx="7277100" cy="1466850"/>
          </a:xfrm>
        </p:grpSpPr>
        <p:sp>
          <p:nvSpPr>
            <p:cNvPr id="35" name="Rectangle 35"/>
            <p:cNvSpPr/>
            <p:nvPr/>
          </p:nvSpPr>
          <p:spPr>
            <a:xfrm>
              <a:off x="4381500" y="4286250"/>
              <a:ext cx="7277100" cy="1466850"/>
            </a:xfrm>
            <a:prstGeom prst="roundRect">
              <a:avLst>
                <a:gd name="adj" fmla="val 7792"/>
              </a:avLst>
            </a:prstGeom>
            <a:solidFill>
              <a:srgbClr val="FFFFFF"/>
            </a:solidFill>
            <a:ln w="9525">
              <a:solidFill>
                <a:srgbClr val="D7DEE8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4629150" y="4591423"/>
              <a:ext cx="361950" cy="323104"/>
              <a:chOff x="4629150" y="4591423"/>
              <a:chExt cx="361950" cy="323104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4765109" y="4591423"/>
                <a:ext cx="90033" cy="323104"/>
              </a:xfrm>
              <a:custGeom>
                <a:avLst/>
                <a:gdLst/>
                <a:ahLst/>
                <a:cxnLst/>
                <a:rect l="l" t="t" r="r" b="b"/>
                <a:pathLst>
                  <a:path w="90033" h="323104">
                    <a:moveTo>
                      <a:pt x="45244" y="0"/>
                    </a:moveTo>
                    <a:lnTo>
                      <a:pt x="0" y="316707"/>
                    </a:lnTo>
                    <a:lnTo>
                      <a:pt x="44789" y="323104"/>
                    </a:lnTo>
                    <a:lnTo>
                      <a:pt x="90033" y="6398"/>
                    </a:lnTo>
                    <a:lnTo>
                      <a:pt x="45244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879932" y="4673798"/>
                <a:ext cx="111168" cy="158353"/>
              </a:xfrm>
              <a:custGeom>
                <a:avLst/>
                <a:gdLst/>
                <a:ahLst/>
                <a:cxnLst/>
                <a:rect l="l" t="t" r="r" b="b"/>
                <a:pathLst>
                  <a:path w="111168" h="158353">
                    <a:moveTo>
                      <a:pt x="31992" y="158353"/>
                    </a:moveTo>
                    <a:lnTo>
                      <a:pt x="0" y="126361"/>
                    </a:lnTo>
                    <a:lnTo>
                      <a:pt x="47185" y="79177"/>
                    </a:lnTo>
                    <a:lnTo>
                      <a:pt x="0" y="31992"/>
                    </a:lnTo>
                    <a:lnTo>
                      <a:pt x="31992" y="0"/>
                    </a:lnTo>
                    <a:lnTo>
                      <a:pt x="111168" y="79177"/>
                    </a:lnTo>
                    <a:lnTo>
                      <a:pt x="31992" y="158353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629150" y="4673798"/>
                <a:ext cx="111169" cy="158353"/>
              </a:xfrm>
              <a:custGeom>
                <a:avLst/>
                <a:gdLst/>
                <a:ahLst/>
                <a:cxnLst/>
                <a:rect l="l" t="t" r="r" b="b"/>
                <a:pathLst>
                  <a:path w="111169" h="158353">
                    <a:moveTo>
                      <a:pt x="63984" y="79177"/>
                    </a:moveTo>
                    <a:lnTo>
                      <a:pt x="111169" y="126361"/>
                    </a:lnTo>
                    <a:lnTo>
                      <a:pt x="79177" y="158353"/>
                    </a:lnTo>
                    <a:lnTo>
                      <a:pt x="0" y="79177"/>
                    </a:lnTo>
                    <a:lnTo>
                      <a:pt x="79177" y="0"/>
                    </a:lnTo>
                    <a:lnTo>
                      <a:pt x="111169" y="31992"/>
                    </a:lnTo>
                    <a:lnTo>
                      <a:pt x="63984" y="79177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5126355" y="4616768"/>
              <a:ext cx="23529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1F3A"/>
                  </a:solidFill>
                  <a:latin typeface="Consolas"/>
                  <a:ea typeface="Microsoft YaHei"/>
                  <a:cs typeface="Consolas"/>
                </a:rPr>
                <a:t>ENABLE_NOP_FAST_PATH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12958" y="5043964"/>
              <a:ext cx="59260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仅在参数开启且opcode为NOP时绕过DECODE；其他命令保持原状态机。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13910" y="5356860"/>
              <a:ext cx="43642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64545"/>
                  </a:solidFill>
                  <a:latin typeface="Arial"/>
                  <a:ea typeface="Microsoft YaHei"/>
                  <a:cs typeface="Arial"/>
                </a:rPr>
                <a:t>默认值保持0：未经整机时序联调，不改变生产配置。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21970" y="6532245"/>
            <a:ext cx="11148060" cy="182880"/>
            <a:chOff x="521970" y="6532245"/>
            <a:chExt cx="11148060" cy="182880"/>
          </a:xfrm>
        </p:grpSpPr>
        <p:sp>
          <p:nvSpPr>
            <p:cNvPr id="44" name="TextBox 44"/>
            <p:cNvSpPr txBox="1"/>
            <p:nvPr/>
          </p:nvSpPr>
          <p:spPr>
            <a:xfrm>
              <a:off x="521970" y="6532245"/>
              <a:ext cx="21851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代码：hw/rtl/cp/VX_cp_engine.sv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39690" y="65322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4" grpId="0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9110" y="280035"/>
            <a:ext cx="11226962" cy="548640"/>
            <a:chOff x="499110" y="280035"/>
            <a:chExt cx="11226962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280035"/>
              <a:ext cx="934333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Fast Path提升33.33%，但Fmax代价阻止默认开启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287000" y="3238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19527" y="426720"/>
              <a:ext cx="15065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EXPERIMENT 4 · RESULT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781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49605" y="1206818"/>
            <a:ext cx="5541645" cy="3403282"/>
            <a:chOff x="649605" y="1206818"/>
            <a:chExt cx="5541645" cy="3403282"/>
          </a:xfrm>
        </p:grpSpPr>
        <p:sp>
          <p:nvSpPr>
            <p:cNvPr id="8" name="TextBox 8"/>
            <p:cNvSpPr txBox="1"/>
            <p:nvPr/>
          </p:nvSpPr>
          <p:spPr>
            <a:xfrm>
              <a:off x="649605" y="1206818"/>
              <a:ext cx="16180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CPC（越低越好）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047750" y="26670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38100">
              <a:solidFill>
                <a:srgbClr val="D7DEE8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524500" y="2514600"/>
              <a:ext cx="304800" cy="3048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981450" y="2514600"/>
              <a:ext cx="304800" cy="3048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4133850" y="2667000"/>
              <a:ext cx="1543050" cy="9525"/>
            </a:xfrm>
            <a:custGeom>
              <a:avLst/>
              <a:gdLst/>
              <a:ahLst/>
              <a:cxnLst/>
              <a:rect l="l" t="t" r="r" b="b"/>
              <a:pathLst>
                <a:path w="1543050" h="9525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noFill/>
            <a:ln w="57150">
              <a:solidFill>
                <a:srgbClr val="F59E0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63664" y="2005012"/>
              <a:ext cx="62647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3.0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19903" y="2956560"/>
              <a:ext cx="7139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Baseline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20614" y="2005012"/>
              <a:ext cx="62647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2.0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06749" y="2956560"/>
              <a:ext cx="8542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Fast Path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866900" y="3619500"/>
              <a:ext cx="4095750" cy="990600"/>
            </a:xfrm>
            <a:prstGeom prst="roundRect">
              <a:avLst>
                <a:gd name="adj" fmla="val 11538"/>
              </a:avLst>
            </a:prstGeom>
            <a:solidFill>
              <a:srgbClr val="F59E0B">
                <a:alpha val="12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117580" y="3724275"/>
              <a:ext cx="159439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33.33%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46655" y="4224814"/>
              <a:ext cx="17362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每条NOP减少1个周期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705600" y="1219200"/>
            <a:ext cx="4953000" cy="4095750"/>
            <a:chOff x="6705600" y="1219200"/>
            <a:chExt cx="4953000" cy="4095750"/>
          </a:xfrm>
        </p:grpSpPr>
        <p:sp>
          <p:nvSpPr>
            <p:cNvPr id="21" name="Rectangle 21"/>
            <p:cNvSpPr/>
            <p:nvPr/>
          </p:nvSpPr>
          <p:spPr>
            <a:xfrm>
              <a:off x="6705600" y="1219200"/>
              <a:ext cx="495300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9525">
              <a:solidFill>
                <a:srgbClr val="D7DEE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87540" y="1463040"/>
              <a:ext cx="19779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证据与工程决策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7010400" y="1924050"/>
              <a:ext cx="4343400" cy="552450"/>
              <a:chOff x="7010400" y="1924050"/>
              <a:chExt cx="4343400" cy="5524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010400" y="1924050"/>
                <a:ext cx="4343400" cy="552450"/>
              </a:xfrm>
              <a:prstGeom prst="roundRect">
                <a:avLst>
                  <a:gd name="adj" fmla="val 13793"/>
                </a:avLst>
              </a:prstGeom>
              <a:solidFill>
                <a:srgbClr val="138A5B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165658" y="2034064"/>
                <a:ext cx="61895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正确性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966710" y="2042160"/>
                <a:ext cx="17142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100 / 1000 / 10000条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968615" y="2258378"/>
                <a:ext cx="15601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drop=0 · duplicate=0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010400" y="2609850"/>
              <a:ext cx="4343400" cy="552450"/>
              <a:chOff x="7010400" y="2609850"/>
              <a:chExt cx="4343400" cy="5524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010400" y="2609850"/>
                <a:ext cx="4343400" cy="552450"/>
              </a:xfrm>
              <a:prstGeom prst="roundRect">
                <a:avLst>
                  <a:gd name="adj" fmla="val 13793"/>
                </a:avLst>
              </a:prstGeom>
              <a:solidFill>
                <a:srgbClr val="00A6A6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165658" y="2719864"/>
                <a:ext cx="42343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吞吐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966710" y="2727960"/>
                <a:ext cx="221115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0.333 → 0.500 Cmd/Cycle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968615" y="2944178"/>
                <a:ext cx="11998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执行吞吐提高50%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010400" y="3295650"/>
              <a:ext cx="4343400" cy="552450"/>
              <a:chOff x="7010400" y="3295650"/>
              <a:chExt cx="4343400" cy="5524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010400" y="3295650"/>
                <a:ext cx="4343400" cy="552450"/>
              </a:xfrm>
              <a:prstGeom prst="roundRect">
                <a:avLst>
                  <a:gd name="adj" fmla="val 13793"/>
                </a:avLst>
              </a:prstGeom>
              <a:solidFill>
                <a:srgbClr val="1565C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165658" y="3405664"/>
                <a:ext cx="42343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面积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966710" y="3413760"/>
                <a:ext cx="13554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FPGA LC +4.27%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968615" y="3629978"/>
                <a:ext cx="12228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ASIC area -0.18%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010400" y="3981450"/>
              <a:ext cx="4343400" cy="552450"/>
              <a:chOff x="7010400" y="3981450"/>
              <a:chExt cx="4343400" cy="5524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7010400" y="3981450"/>
                <a:ext cx="4343400" cy="552450"/>
              </a:xfrm>
              <a:prstGeom prst="roundRect">
                <a:avLst>
                  <a:gd name="adj" fmla="val 13793"/>
                </a:avLst>
              </a:prstGeom>
              <a:solidFill>
                <a:srgbClr val="D64545">
                  <a:alpha val="8000"/>
                </a:srgbClr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165658" y="4091464"/>
                <a:ext cx="42343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D64545"/>
                    </a:solidFill>
                    <a:latin typeface="Arial"/>
                    <a:ea typeface="Microsoft YaHei"/>
                    <a:cs typeface="Arial"/>
                  </a:rPr>
                  <a:t>时序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966710" y="4099560"/>
                <a:ext cx="16958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Fmax proxy -6.43%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968615" y="4315778"/>
                <a:ext cx="12688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超过2%重新评估线</a:t>
                </a:r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6991350" y="4848225"/>
              <a:ext cx="32815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64545"/>
                  </a:solidFill>
                  <a:latin typeface="Arial"/>
                  <a:ea typeface="Microsoft YaHei"/>
                  <a:cs typeface="Arial"/>
                </a:rPr>
                <a:t>功能 Accept · 默认集成 Reject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1970" y="6532245"/>
            <a:ext cx="11148060" cy="182880"/>
            <a:chOff x="521970" y="6532245"/>
            <a:chExt cx="11148060" cy="182880"/>
          </a:xfrm>
        </p:grpSpPr>
        <p:sp>
          <p:nvSpPr>
            <p:cNvPr id="45" name="TextBox 45"/>
            <p:cNvSpPr txBox="1"/>
            <p:nvPr/>
          </p:nvSpPr>
          <p:spPr>
            <a:xfrm>
              <a:off x="521970" y="6532245"/>
              <a:ext cx="23691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来源：results/exp04 与模块级PPA报告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39690" y="65322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9110" y="280035"/>
            <a:ext cx="11159490" cy="548640"/>
            <a:chOff x="499110" y="280035"/>
            <a:chExt cx="11159490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280035"/>
              <a:ext cx="679692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Packing让64B缓存行承载多条短命令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287000" y="3238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526616" y="426720"/>
              <a:ext cx="8923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EXPERIMENT 5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781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33400" y="1104900"/>
            <a:ext cx="2857500" cy="4686300"/>
            <a:chOff x="533400" y="1104900"/>
            <a:chExt cx="2857500" cy="4686300"/>
          </a:xfrm>
        </p:grpSpPr>
        <p:sp>
          <p:nvSpPr>
            <p:cNvPr id="8" name="Rectangle 8"/>
            <p:cNvSpPr/>
            <p:nvPr/>
          </p:nvSpPr>
          <p:spPr>
            <a:xfrm>
              <a:off x="533400" y="1104900"/>
              <a:ext cx="2857500" cy="46863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F59E0B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50106" y="1390650"/>
              <a:ext cx="300038" cy="400050"/>
              <a:chOff x="850106" y="1390650"/>
              <a:chExt cx="300038" cy="4000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50106" y="1550670"/>
                <a:ext cx="300038" cy="115014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15014">
                    <a:moveTo>
                      <a:pt x="278462" y="12756"/>
                    </a:moveTo>
                    <a:cubicBezTo>
                      <a:pt x="285496" y="9238"/>
                      <a:pt x="292844" y="4996"/>
                      <a:pt x="300038" y="0"/>
                    </a:cubicBezTo>
                    <a:lnTo>
                      <a:pt x="300038" y="40005"/>
                    </a:lnTo>
                    <a:cubicBezTo>
                      <a:pt x="300038" y="81431"/>
                      <a:pt x="232872" y="115014"/>
                      <a:pt x="150019" y="115014"/>
                    </a:cubicBezTo>
                    <a:cubicBezTo>
                      <a:pt x="67166" y="115014"/>
                      <a:pt x="0" y="81431"/>
                      <a:pt x="0" y="40005"/>
                    </a:cubicBezTo>
                    <a:lnTo>
                      <a:pt x="0" y="0"/>
                    </a:lnTo>
                    <a:cubicBezTo>
                      <a:pt x="7194" y="4996"/>
                      <a:pt x="14541" y="9238"/>
                      <a:pt x="21576" y="12756"/>
                    </a:cubicBezTo>
                    <a:cubicBezTo>
                      <a:pt x="57031" y="30483"/>
                      <a:pt x="102512" y="40005"/>
                      <a:pt x="150019" y="40005"/>
                    </a:cubicBezTo>
                    <a:cubicBezTo>
                      <a:pt x="197525" y="40005"/>
                      <a:pt x="243005" y="30483"/>
                      <a:pt x="278462" y="12756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50106" y="1675686"/>
                <a:ext cx="300038" cy="115014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15014">
                    <a:moveTo>
                      <a:pt x="0" y="0"/>
                    </a:moveTo>
                    <a:lnTo>
                      <a:pt x="0" y="40005"/>
                    </a:lnTo>
                    <a:cubicBezTo>
                      <a:pt x="0" y="81433"/>
                      <a:pt x="67166" y="115014"/>
                      <a:pt x="150019" y="115014"/>
                    </a:cubicBezTo>
                    <a:cubicBezTo>
                      <a:pt x="232872" y="115014"/>
                      <a:pt x="300038" y="81433"/>
                      <a:pt x="300038" y="40005"/>
                    </a:cubicBezTo>
                    <a:lnTo>
                      <a:pt x="300038" y="0"/>
                    </a:lnTo>
                    <a:cubicBezTo>
                      <a:pt x="292844" y="4996"/>
                      <a:pt x="285496" y="9239"/>
                      <a:pt x="278462" y="12757"/>
                    </a:cubicBezTo>
                    <a:cubicBezTo>
                      <a:pt x="243005" y="30484"/>
                      <a:pt x="197525" y="40005"/>
                      <a:pt x="150019" y="40005"/>
                    </a:cubicBezTo>
                    <a:cubicBezTo>
                      <a:pt x="102512" y="40005"/>
                      <a:pt x="57031" y="30484"/>
                      <a:pt x="21576" y="12757"/>
                    </a:cubicBezTo>
                    <a:cubicBezTo>
                      <a:pt x="14541" y="9239"/>
                      <a:pt x="7194" y="4996"/>
                      <a:pt x="0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50106" y="1390650"/>
                <a:ext cx="30003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50019">
                    <a:moveTo>
                      <a:pt x="150019" y="0"/>
                    </a:moveTo>
                    <a:cubicBezTo>
                      <a:pt x="232872" y="0"/>
                      <a:pt x="300038" y="33583"/>
                      <a:pt x="300038" y="75009"/>
                    </a:cubicBezTo>
                    <a:cubicBezTo>
                      <a:pt x="300038" y="116436"/>
                      <a:pt x="232872" y="150019"/>
                      <a:pt x="150019" y="150019"/>
                    </a:cubicBezTo>
                    <a:cubicBezTo>
                      <a:pt x="67166" y="150019"/>
                      <a:pt x="0" y="116436"/>
                      <a:pt x="0" y="75009"/>
                    </a:cubicBezTo>
                    <a:cubicBezTo>
                      <a:pt x="0" y="33583"/>
                      <a:pt x="67166" y="0"/>
                      <a:pt x="150019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777240" y="1824990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为什么做？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2955" y="2254568"/>
              <a:ext cx="19172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DCR_WRITE仅占20B，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540318"/>
              <a:ext cx="17397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若独占64B缓存行，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2955" y="2826068"/>
              <a:ext cx="20651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读取带宽浪费68.75%。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0" y="3295650"/>
              <a:ext cx="2008441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20 / 64 B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791902" y="1274921"/>
            <a:ext cx="7271385" cy="1632585"/>
            <a:chOff x="3791902" y="1274921"/>
            <a:chExt cx="7271385" cy="1632585"/>
          </a:xfrm>
        </p:grpSpPr>
        <p:sp>
          <p:nvSpPr>
            <p:cNvPr id="19" name="TextBox 19"/>
            <p:cNvSpPr txBox="1"/>
            <p:nvPr/>
          </p:nvSpPr>
          <p:spPr>
            <a:xfrm>
              <a:off x="3791902" y="1274921"/>
              <a:ext cx="214498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优化后一条64B缓存行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810000" y="1695450"/>
              <a:ext cx="2247900" cy="819150"/>
            </a:xfrm>
            <a:prstGeom prst="rect">
              <a:avLst/>
            </a:prstGeom>
            <a:solidFill>
              <a:srgbClr val="1565C0">
                <a:alpha val="16000"/>
              </a:srgbClr>
            </a:solidFill>
            <a:ln w="9525">
              <a:solidFill>
                <a:srgbClr val="1565C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73352" y="1938814"/>
              <a:ext cx="5211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DCR 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84110" y="2202656"/>
              <a:ext cx="299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77A"/>
                  </a:solidFill>
                  <a:latin typeface="Consolas"/>
                  <a:ea typeface="Microsoft YaHei"/>
                  <a:cs typeface="Consolas"/>
                </a:rPr>
                <a:t>20B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57900" y="1695450"/>
              <a:ext cx="2247900" cy="819150"/>
            </a:xfrm>
            <a:prstGeom prst="rect">
              <a:avLst/>
            </a:prstGeom>
            <a:solidFill>
              <a:srgbClr val="00A6A6">
                <a:alpha val="16000"/>
              </a:srgbClr>
            </a:solidFill>
            <a:ln w="9525">
              <a:solidFill>
                <a:srgbClr val="00A6A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45693" y="1938814"/>
              <a:ext cx="4723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DCR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2010" y="2202656"/>
              <a:ext cx="299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77A"/>
                  </a:solidFill>
                  <a:latin typeface="Consolas"/>
                  <a:ea typeface="Microsoft YaHei"/>
                  <a:cs typeface="Consolas"/>
                </a:rPr>
                <a:t>20B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305800" y="1695450"/>
              <a:ext cx="2247900" cy="819150"/>
            </a:xfrm>
            <a:prstGeom prst="rect">
              <a:avLst/>
            </a:prstGeom>
            <a:solidFill>
              <a:srgbClr val="F59E0B">
                <a:alpha val="16000"/>
              </a:srgbClr>
            </a:solidFill>
            <a:ln w="9525">
              <a:solidFill>
                <a:srgbClr val="F59E0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69152" y="1938814"/>
              <a:ext cx="5211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DCR 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79910" y="2202656"/>
              <a:ext cx="2996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77A"/>
                  </a:solidFill>
                  <a:latin typeface="Consolas"/>
                  <a:ea typeface="Microsoft YaHei"/>
                  <a:cs typeface="Consolas"/>
                </a:rPr>
                <a:t>20B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553700" y="1695450"/>
              <a:ext cx="449580" cy="819150"/>
            </a:xfrm>
            <a:prstGeom prst="rect">
              <a:avLst/>
            </a:prstGeom>
            <a:solidFill>
              <a:srgbClr val="D7DEE8">
                <a:alpha val="35000"/>
              </a:srgbClr>
            </a:solidFill>
            <a:ln w="9525">
              <a:solidFill>
                <a:srgbClr val="D7DEE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600990" y="1938814"/>
              <a:ext cx="35500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PAD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73834" y="220265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77A"/>
                  </a:solidFill>
                  <a:latin typeface="Consolas"/>
                  <a:ea typeface="Microsoft YaHei"/>
                  <a:cs typeface="Consolas"/>
                </a:rPr>
                <a:t>4B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31310" y="2678906"/>
              <a:ext cx="15319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最多3条20B DCR命令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810000" y="3143250"/>
            <a:ext cx="7848600" cy="1257300"/>
            <a:chOff x="3810000" y="3143250"/>
            <a:chExt cx="7848600" cy="1257300"/>
          </a:xfrm>
        </p:grpSpPr>
        <p:sp>
          <p:nvSpPr>
            <p:cNvPr id="34" name="Rectangle 34"/>
            <p:cNvSpPr/>
            <p:nvPr/>
          </p:nvSpPr>
          <p:spPr>
            <a:xfrm>
              <a:off x="3810000" y="3143250"/>
              <a:ext cx="7848600" cy="12573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D7DEE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095750" y="3476625"/>
              <a:ext cx="2000250" cy="590550"/>
            </a:xfrm>
            <a:prstGeom prst="roundRect">
              <a:avLst>
                <a:gd name="adj" fmla="val 12903"/>
              </a:avLst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64678" y="36833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追加命令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0" y="37719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0B1F3A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6400800" y="37147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B1F3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553200" y="3476625"/>
              <a:ext cx="2000250" cy="590550"/>
            </a:xfrm>
            <a:prstGeom prst="roundRect">
              <a:avLst>
                <a:gd name="adj" fmla="val 12903"/>
              </a:avLst>
            </a:prstGeom>
            <a:solidFill>
              <a:srgbClr val="F59E0B">
                <a:alpha val="12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22128" y="36833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空间不足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553450" y="37719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0B1F3A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8858250" y="37147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B1F3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010650" y="3476625"/>
              <a:ext cx="2000250" cy="590550"/>
            </a:xfrm>
            <a:prstGeom prst="roundRect">
              <a:avLst>
                <a:gd name="adj" fmla="val 12903"/>
              </a:avLst>
            </a:prstGeom>
            <a:solidFill>
              <a:srgbClr val="00A6A6">
                <a:alpha val="12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24309" y="3683318"/>
              <a:ext cx="11729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补零并Flush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810000" y="4629150"/>
            <a:ext cx="7848600" cy="1162050"/>
            <a:chOff x="3810000" y="4629150"/>
            <a:chExt cx="7848600" cy="1162050"/>
          </a:xfrm>
        </p:grpSpPr>
        <p:sp>
          <p:nvSpPr>
            <p:cNvPr id="46" name="Rectangle 46"/>
            <p:cNvSpPr/>
            <p:nvPr/>
          </p:nvSpPr>
          <p:spPr>
            <a:xfrm>
              <a:off x="3810000" y="4629150"/>
              <a:ext cx="7848600" cy="1162050"/>
            </a:xfrm>
            <a:prstGeom prst="roundRect">
              <a:avLst>
                <a:gd name="adj" fmla="val 9836"/>
              </a:avLst>
            </a:prstGeom>
            <a:solidFill>
              <a:srgbClr val="FFFFFF"/>
            </a:solidFill>
            <a:ln w="9525">
              <a:solidFill>
                <a:srgbClr val="D7DEE8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4076700" y="4970378"/>
              <a:ext cx="323850" cy="289093"/>
              <a:chOff x="4076700" y="4970378"/>
              <a:chExt cx="323850" cy="28909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4198347" y="4970378"/>
                <a:ext cx="80556" cy="289093"/>
              </a:xfrm>
              <a:custGeom>
                <a:avLst/>
                <a:gdLst/>
                <a:ahLst/>
                <a:cxnLst/>
                <a:rect l="l" t="t" r="r" b="b"/>
                <a:pathLst>
                  <a:path w="80556" h="289093">
                    <a:moveTo>
                      <a:pt x="40481" y="0"/>
                    </a:moveTo>
                    <a:lnTo>
                      <a:pt x="0" y="283369"/>
                    </a:lnTo>
                    <a:lnTo>
                      <a:pt x="40074" y="289093"/>
                    </a:lnTo>
                    <a:lnTo>
                      <a:pt x="80556" y="5725"/>
                    </a:lnTo>
                    <a:lnTo>
                      <a:pt x="40481" y="0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4301084" y="5044083"/>
                <a:ext cx="99466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99466" h="141684">
                    <a:moveTo>
                      <a:pt x="28624" y="141684"/>
                    </a:moveTo>
                    <a:lnTo>
                      <a:pt x="0" y="113060"/>
                    </a:lnTo>
                    <a:lnTo>
                      <a:pt x="42218" y="70842"/>
                    </a:lnTo>
                    <a:lnTo>
                      <a:pt x="0" y="28625"/>
                    </a:lnTo>
                    <a:lnTo>
                      <a:pt x="28624" y="0"/>
                    </a:lnTo>
                    <a:lnTo>
                      <a:pt x="99466" y="70842"/>
                    </a:lnTo>
                    <a:lnTo>
                      <a:pt x="28624" y="141684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4076700" y="5044083"/>
                <a:ext cx="99467" cy="141684"/>
              </a:xfrm>
              <a:custGeom>
                <a:avLst/>
                <a:gdLst/>
                <a:ahLst/>
                <a:cxnLst/>
                <a:rect l="l" t="t" r="r" b="b"/>
                <a:pathLst>
                  <a:path w="99467" h="141684">
                    <a:moveTo>
                      <a:pt x="57249" y="70842"/>
                    </a:moveTo>
                    <a:lnTo>
                      <a:pt x="99467" y="113060"/>
                    </a:lnTo>
                    <a:lnTo>
                      <a:pt x="70842" y="141684"/>
                    </a:lnTo>
                    <a:lnTo>
                      <a:pt x="0" y="70842"/>
                    </a:lnTo>
                    <a:lnTo>
                      <a:pt x="70842" y="0"/>
                    </a:lnTo>
                    <a:lnTo>
                      <a:pt x="99467" y="28625"/>
                    </a:lnTo>
                    <a:lnTo>
                      <a:pt x="57249" y="70842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4555808" y="4958239"/>
              <a:ext cx="7949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cp_tail_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84558" y="4958239"/>
              <a:ext cx="19410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每Flush一条CL增加64B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555808" y="5329714"/>
              <a:ext cx="21147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0A6A6"/>
                  </a:solidFill>
                  <a:latin typeface="Consolas"/>
                  <a:ea typeface="Microsoft YaHei"/>
                  <a:cs typeface="Consolas"/>
                </a:rPr>
                <a:t>cp_expected_seqnum_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46558" y="5329714"/>
              <a:ext cx="17641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每加入一条命令增加1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21970" y="6532245"/>
            <a:ext cx="11148060" cy="182880"/>
            <a:chOff x="521970" y="6532245"/>
            <a:chExt cx="11148060" cy="182880"/>
          </a:xfrm>
        </p:grpSpPr>
        <p:sp>
          <p:nvSpPr>
            <p:cNvPr id="56" name="TextBox 56"/>
            <p:cNvSpPr txBox="1"/>
            <p:nvPr/>
          </p:nvSpPr>
          <p:spPr>
            <a:xfrm>
              <a:off x="521970" y="6532245"/>
              <a:ext cx="39267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实现：sw/runtime/common/device.cpp 与 vortex2_internal.h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39690" y="65322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08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3" grpId="0"/>
      <p:bldP spid="45" grpId="0"/>
      <p:bldP spid="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9110" y="280035"/>
            <a:ext cx="11226962" cy="548640"/>
            <a:chOff x="499110" y="280035"/>
            <a:chExt cx="11226962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280035"/>
              <a:ext cx="940544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Packing减少66.60%取指流量，但DCR吞吐保持不变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287000" y="3238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19527" y="426720"/>
              <a:ext cx="15065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EXPERIMENT 5 · RESULT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781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49605" y="1206818"/>
            <a:ext cx="5905185" cy="3334226"/>
            <a:chOff x="649605" y="1206818"/>
            <a:chExt cx="5905185" cy="3334226"/>
          </a:xfrm>
        </p:grpSpPr>
        <p:sp>
          <p:nvSpPr>
            <p:cNvPr id="8" name="TextBox 8"/>
            <p:cNvSpPr txBox="1"/>
            <p:nvPr/>
          </p:nvSpPr>
          <p:spPr>
            <a:xfrm>
              <a:off x="649605" y="1206818"/>
              <a:ext cx="31914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Bytes per Command（越低越好）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047750" y="26479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38100">
              <a:solidFill>
                <a:srgbClr val="D7DEE8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657850" y="2495550"/>
              <a:ext cx="304800" cy="3048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476500" y="2495550"/>
              <a:ext cx="304800" cy="3048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2628900" y="2647950"/>
              <a:ext cx="3181350" cy="9525"/>
            </a:xfrm>
            <a:custGeom>
              <a:avLst/>
              <a:gdLst/>
              <a:ahLst/>
              <a:cxnLst/>
              <a:rect l="l" t="t" r="r" b="b"/>
              <a:pathLst>
                <a:path w="3181350" h="9525">
                  <a:moveTo>
                    <a:pt x="0" y="0"/>
                  </a:moveTo>
                  <a:lnTo>
                    <a:pt x="3181350" y="0"/>
                  </a:lnTo>
                </a:path>
              </a:pathLst>
            </a:custGeom>
            <a:noFill/>
            <a:ln w="57150">
              <a:solidFill>
                <a:srgbClr val="F59E0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065711" y="1985962"/>
              <a:ext cx="148907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64.000 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53253" y="2937510"/>
              <a:ext cx="7139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Baseline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27491" y="1985962"/>
              <a:ext cx="140281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21.376 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24481" y="2937510"/>
              <a:ext cx="6088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Packed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90900" y="3771900"/>
              <a:ext cx="1847421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−66.60%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12808" y="4281964"/>
              <a:ext cx="31142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1000条命令：1000 → 334 Cache Lines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705600" y="1200150"/>
            <a:ext cx="4953000" cy="4324350"/>
            <a:chOff x="6705600" y="1200150"/>
            <a:chExt cx="4953000" cy="4324350"/>
          </a:xfrm>
        </p:grpSpPr>
        <p:sp>
          <p:nvSpPr>
            <p:cNvPr id="20" name="Rectangle 20"/>
            <p:cNvSpPr/>
            <p:nvPr/>
          </p:nvSpPr>
          <p:spPr>
            <a:xfrm>
              <a:off x="6705600" y="1200150"/>
              <a:ext cx="4953000" cy="4324350"/>
            </a:xfrm>
            <a:prstGeom prst="roundRect">
              <a:avLst>
                <a:gd name="adj" fmla="val 2643"/>
              </a:avLst>
            </a:prstGeom>
            <a:solidFill>
              <a:srgbClr val="FFFFFF"/>
            </a:solidFill>
            <a:ln w="9525">
              <a:solidFill>
                <a:srgbClr val="D7DEE8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010400" y="1619250"/>
              <a:ext cx="4343400" cy="628650"/>
              <a:chOff x="7010400" y="1619250"/>
              <a:chExt cx="4343400" cy="6286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010400" y="1619250"/>
                <a:ext cx="4343400" cy="628650"/>
              </a:xfrm>
              <a:prstGeom prst="roundRect">
                <a:avLst>
                  <a:gd name="adj" fmla="val 12121"/>
                </a:avLst>
              </a:prstGeom>
              <a:solidFill>
                <a:srgbClr val="00A6A6">
                  <a:alpha val="9000"/>
                </a:srgb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183755" y="1854518"/>
                <a:ext cx="44834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947660" y="1870710"/>
                <a:ext cx="19583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Fetch：64000 → 21376 B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010400" y="2400300"/>
              <a:ext cx="4343400" cy="628650"/>
              <a:chOff x="7010400" y="2400300"/>
              <a:chExt cx="4343400" cy="6286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010400" y="2400300"/>
                <a:ext cx="4343400" cy="628650"/>
              </a:xfrm>
              <a:prstGeom prst="roundRect">
                <a:avLst>
                  <a:gd name="adj" fmla="val 12121"/>
                </a:avLst>
              </a:prstGeom>
              <a:solidFill>
                <a:srgbClr val="1565C0">
                  <a:alpha val="9000"/>
                </a:srgb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183755" y="2635568"/>
                <a:ext cx="44834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不变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947660" y="2651760"/>
                <a:ext cx="202844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Total cycles：7011 → 7011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010400" y="3181350"/>
              <a:ext cx="4343400" cy="628650"/>
              <a:chOff x="7010400" y="3181350"/>
              <a:chExt cx="4343400" cy="6286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7010400" y="3181350"/>
                <a:ext cx="4343400" cy="628650"/>
              </a:xfrm>
              <a:prstGeom prst="roundRect">
                <a:avLst>
                  <a:gd name="adj" fmla="val 12121"/>
                </a:avLst>
              </a:prstGeom>
              <a:solidFill>
                <a:srgbClr val="138A5B">
                  <a:alpha val="9000"/>
                </a:srgbClr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183755" y="3416618"/>
                <a:ext cx="44834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正确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947660" y="3432810"/>
                <a:ext cx="22475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Consolas"/>
                    <a:ea typeface="Microsoft YaHei"/>
                    <a:cs typeface="Consolas"/>
                  </a:rPr>
                  <a:t>seqnum=1000 · drop/dup=0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7010400" y="41148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91350" y="4333875"/>
              <a:ext cx="23383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为什么吞吐没有变化？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94208" y="4682014"/>
              <a:ext cx="30862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当前模型中Fetch可与DCR执行重叠，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94208" y="4958239"/>
              <a:ext cx="313284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瓶颈仍在每条DCR的执行与退休路径。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1970" y="6532245"/>
            <a:ext cx="11148060" cy="182880"/>
            <a:chOff x="521970" y="6532245"/>
            <a:chExt cx="11148060" cy="182880"/>
          </a:xfrm>
        </p:grpSpPr>
        <p:sp>
          <p:nvSpPr>
            <p:cNvPr id="38" name="TextBox 38"/>
            <p:cNvSpPr txBox="1"/>
            <p:nvPr/>
          </p:nvSpPr>
          <p:spPr>
            <a:xfrm>
              <a:off x="521970" y="6532245"/>
              <a:ext cx="27306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来源：results/exp05/packing_metrics.csv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39690" y="65322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9110" y="280035"/>
            <a:ext cx="11159490" cy="548640"/>
            <a:chOff x="499110" y="280035"/>
            <a:chExt cx="11159490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280035"/>
              <a:ext cx="81011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Prefetch将请求、响应缓存和命令消费解耦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287000" y="3238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526616" y="426720"/>
              <a:ext cx="8923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EXPERIMENT 6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781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33400" y="1104900"/>
            <a:ext cx="2816066" cy="4686300"/>
            <a:chOff x="533400" y="1104900"/>
            <a:chExt cx="2816066" cy="4686300"/>
          </a:xfrm>
        </p:grpSpPr>
        <p:sp>
          <p:nvSpPr>
            <p:cNvPr id="8" name="Rectangle 8"/>
            <p:cNvSpPr/>
            <p:nvPr/>
          </p:nvSpPr>
          <p:spPr>
            <a:xfrm>
              <a:off x="533400" y="1104900"/>
              <a:ext cx="2781300" cy="4686300"/>
            </a:xfrm>
            <a:prstGeom prst="roundRect">
              <a:avLst>
                <a:gd name="adj" fmla="val 4110"/>
              </a:avLst>
            </a:prstGeom>
            <a:solidFill>
              <a:srgbClr val="FFFFFF"/>
            </a:solidFill>
            <a:ln w="9525">
              <a:solidFill>
                <a:srgbClr val="F59E0B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25103" y="1390650"/>
              <a:ext cx="350044" cy="400050"/>
              <a:chOff x="825103" y="1390650"/>
              <a:chExt cx="350044" cy="4000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25103" y="1390650"/>
                <a:ext cx="350044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200025">
                    <a:moveTo>
                      <a:pt x="0" y="125016"/>
                    </a:moveTo>
                    <a:lnTo>
                      <a:pt x="0" y="75009"/>
                    </a:lnTo>
                    <a:lnTo>
                      <a:pt x="175022" y="0"/>
                    </a:lnTo>
                    <a:lnTo>
                      <a:pt x="350044" y="75009"/>
                    </a:lnTo>
                    <a:lnTo>
                      <a:pt x="350044" y="125016"/>
                    </a:lnTo>
                    <a:lnTo>
                      <a:pt x="175022" y="200025"/>
                    </a:lnTo>
                    <a:lnTo>
                      <a:pt x="0" y="125016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25103" y="1665684"/>
                <a:ext cx="350044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125016">
                    <a:moveTo>
                      <a:pt x="175022" y="125016"/>
                    </a:moveTo>
                    <a:lnTo>
                      <a:pt x="0" y="50006"/>
                    </a:lnTo>
                    <a:lnTo>
                      <a:pt x="0" y="0"/>
                    </a:lnTo>
                    <a:lnTo>
                      <a:pt x="175022" y="75009"/>
                    </a:lnTo>
                    <a:lnTo>
                      <a:pt x="350044" y="0"/>
                    </a:lnTo>
                    <a:lnTo>
                      <a:pt x="350044" y="50006"/>
                    </a:lnTo>
                    <a:lnTo>
                      <a:pt x="175022" y="125016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25103" y="1565672"/>
                <a:ext cx="350044" cy="125016"/>
              </a:xfrm>
              <a:custGeom>
                <a:avLst/>
                <a:gdLst/>
                <a:ahLst/>
                <a:cxnLst/>
                <a:rect l="l" t="t" r="r" b="b"/>
                <a:pathLst>
                  <a:path w="350044" h="125016">
                    <a:moveTo>
                      <a:pt x="0" y="50006"/>
                    </a:moveTo>
                    <a:lnTo>
                      <a:pt x="175022" y="125016"/>
                    </a:lnTo>
                    <a:lnTo>
                      <a:pt x="350044" y="50006"/>
                    </a:lnTo>
                    <a:lnTo>
                      <a:pt x="350044" y="0"/>
                    </a:lnTo>
                    <a:lnTo>
                      <a:pt x="175022" y="75009"/>
                    </a:lnTo>
                    <a:lnTo>
                      <a:pt x="0" y="0"/>
                    </a:lnTo>
                    <a:lnTo>
                      <a:pt x="0" y="50006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777240" y="1824990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为什么做？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3908" y="2262664"/>
              <a:ext cx="22855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原路径必须等待当前CL返回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3908" y="2529364"/>
              <a:ext cx="24717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并消费结束，才请求下一CL。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3908" y="2796064"/>
              <a:ext cx="22483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Host AXI延迟被完全暴露。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1050" y="3362325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目标：让等待与解析重叠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733800" y="1447800"/>
            <a:ext cx="7258050" cy="1466850"/>
            <a:chOff x="3733800" y="1447800"/>
            <a:chExt cx="7258050" cy="1466850"/>
          </a:xfrm>
        </p:grpSpPr>
        <p:grpSp>
          <p:nvGrpSpPr>
            <p:cNvPr id="26" name="Group 26"/>
            <p:cNvGrpSpPr/>
            <p:nvPr/>
          </p:nvGrpSpPr>
          <p:grpSpPr>
            <a:xfrm>
              <a:off x="3733800" y="1447800"/>
              <a:ext cx="2514600" cy="1466850"/>
              <a:chOff x="3733800" y="1447800"/>
              <a:chExt cx="2514600" cy="14668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733800" y="1447800"/>
                <a:ext cx="2114550" cy="1466850"/>
              </a:xfrm>
              <a:prstGeom prst="roundRect">
                <a:avLst>
                  <a:gd name="adj" fmla="val 7792"/>
                </a:avLst>
              </a:prstGeom>
              <a:solidFill>
                <a:srgbClr val="FFFFFF"/>
              </a:solidFill>
              <a:ln w="9525">
                <a:solidFill>
                  <a:srgbClr val="1565C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962400" y="1716881"/>
                <a:ext cx="323850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242888">
                    <a:moveTo>
                      <a:pt x="161925" y="80962"/>
                    </a:moveTo>
                    <a:lnTo>
                      <a:pt x="161925" y="0"/>
                    </a:lnTo>
                    <a:lnTo>
                      <a:pt x="202406" y="0"/>
                    </a:lnTo>
                    <a:lnTo>
                      <a:pt x="323850" y="121444"/>
                    </a:lnTo>
                    <a:lnTo>
                      <a:pt x="202406" y="242888"/>
                    </a:lnTo>
                    <a:lnTo>
                      <a:pt x="161925" y="242888"/>
                    </a:lnTo>
                    <a:lnTo>
                      <a:pt x="161925" y="161925"/>
                    </a:lnTo>
                    <a:lnTo>
                      <a:pt x="0" y="161925"/>
                    </a:lnTo>
                    <a:lnTo>
                      <a:pt x="0" y="80962"/>
                    </a:lnTo>
                    <a:lnTo>
                      <a:pt x="161925" y="80962"/>
                    </a:ln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943350" y="2047875"/>
                <a:ext cx="72818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请求侧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946208" y="2357914"/>
                <a:ext cx="132284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B1F3A"/>
                    </a:solidFill>
                    <a:latin typeface="Consolas"/>
                    <a:ea typeface="Microsoft YaHei"/>
                    <a:cs typeface="Consolas"/>
                  </a:rPr>
                  <a:t>fetch_head_r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948112" y="2621756"/>
                <a:ext cx="94869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AR握手 +64B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5848350" y="2181225"/>
                <a:ext cx="400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9525">
                    <a:moveTo>
                      <a:pt x="0" y="0"/>
                    </a:moveTo>
                    <a:lnTo>
                      <a:pt x="400050" y="0"/>
                    </a:lnTo>
                  </a:path>
                </a:pathLst>
              </a:custGeom>
              <a:noFill/>
              <a:ln w="28575">
                <a:solidFill>
                  <a:srgbClr val="0B1F3A"/>
                </a:solidFill>
              </a:ln>
            </p:spPr>
          </p:sp>
          <p:sp>
            <p:nvSpPr>
              <p:cNvPr id="25" name="Polygon 25"/>
              <p:cNvSpPr/>
              <p:nvPr/>
            </p:nvSpPr>
            <p:spPr>
              <a:xfrm>
                <a:off x="6134100" y="2114550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114300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0B1F3A"/>
              </a:solidFill>
              <a:ln>
                <a:noFill/>
              </a:ln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6305550" y="1447800"/>
              <a:ext cx="2514600" cy="1466850"/>
              <a:chOff x="6305550" y="1447800"/>
              <a:chExt cx="2514600" cy="14668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305550" y="1447800"/>
                <a:ext cx="2114550" cy="1466850"/>
              </a:xfrm>
              <a:prstGeom prst="roundRect">
                <a:avLst>
                  <a:gd name="adj" fmla="val 7792"/>
                </a:avLst>
              </a:prstGeom>
              <a:solidFill>
                <a:srgbClr val="FFFFFF"/>
              </a:solidFill>
              <a:ln w="9525">
                <a:solidFill>
                  <a:srgbClr val="00A6A6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6574631" y="1676400"/>
                <a:ext cx="242888" cy="323850"/>
                <a:chOff x="6574631" y="1676400"/>
                <a:chExt cx="242888" cy="32385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6574631" y="1805940"/>
                  <a:ext cx="242888" cy="9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93107">
                      <a:moveTo>
                        <a:pt x="225422" y="10326"/>
                      </a:moveTo>
                      <a:cubicBezTo>
                        <a:pt x="231116" y="7479"/>
                        <a:pt x="237064" y="4044"/>
                        <a:pt x="242888" y="0"/>
                      </a:cubicBezTo>
                      <a:lnTo>
                        <a:pt x="242888" y="32385"/>
                      </a:lnTo>
                      <a:cubicBezTo>
                        <a:pt x="242888" y="65920"/>
                        <a:pt x="188515" y="93107"/>
                        <a:pt x="121444" y="93107"/>
                      </a:cubicBezTo>
                      <a:cubicBezTo>
                        <a:pt x="54372" y="93107"/>
                        <a:pt x="0" y="65920"/>
                        <a:pt x="0" y="32385"/>
                      </a:cubicBezTo>
                      <a:lnTo>
                        <a:pt x="0" y="0"/>
                      </a:lnTo>
                      <a:cubicBezTo>
                        <a:pt x="5824" y="4044"/>
                        <a:pt x="11772" y="7479"/>
                        <a:pt x="17466" y="10326"/>
                      </a:cubicBezTo>
                      <a:cubicBezTo>
                        <a:pt x="46168" y="24677"/>
                        <a:pt x="82986" y="32385"/>
                        <a:pt x="121444" y="32385"/>
                      </a:cubicBezTo>
                      <a:cubicBezTo>
                        <a:pt x="159901" y="32385"/>
                        <a:pt x="196719" y="24677"/>
                        <a:pt x="225422" y="10326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574631" y="1907143"/>
                  <a:ext cx="242888" cy="9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93107">
                      <a:moveTo>
                        <a:pt x="0" y="0"/>
                      </a:moveTo>
                      <a:lnTo>
                        <a:pt x="0" y="32385"/>
                      </a:lnTo>
                      <a:cubicBezTo>
                        <a:pt x="0" y="65922"/>
                        <a:pt x="54372" y="93107"/>
                        <a:pt x="121444" y="93107"/>
                      </a:cubicBezTo>
                      <a:cubicBezTo>
                        <a:pt x="188515" y="93107"/>
                        <a:pt x="242888" y="65922"/>
                        <a:pt x="242888" y="32385"/>
                      </a:cubicBezTo>
                      <a:lnTo>
                        <a:pt x="242888" y="0"/>
                      </a:lnTo>
                      <a:cubicBezTo>
                        <a:pt x="237064" y="4044"/>
                        <a:pt x="231116" y="7479"/>
                        <a:pt x="225422" y="10327"/>
                      </a:cubicBezTo>
                      <a:cubicBezTo>
                        <a:pt x="196719" y="24677"/>
                        <a:pt x="159901" y="32385"/>
                        <a:pt x="121444" y="32385"/>
                      </a:cubicBezTo>
                      <a:cubicBezTo>
                        <a:pt x="82986" y="32385"/>
                        <a:pt x="46168" y="24677"/>
                        <a:pt x="17466" y="10327"/>
                      </a:cubicBezTo>
                      <a:cubicBezTo>
                        <a:pt x="11772" y="7479"/>
                        <a:pt x="5824" y="4044"/>
                        <a:pt x="0" y="0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574631" y="1676400"/>
                  <a:ext cx="242888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121444">
                      <a:moveTo>
                        <a:pt x="121444" y="0"/>
                      </a:moveTo>
                      <a:cubicBezTo>
                        <a:pt x="188515" y="0"/>
                        <a:pt x="242888" y="27186"/>
                        <a:pt x="242888" y="60722"/>
                      </a:cubicBezTo>
                      <a:cubicBezTo>
                        <a:pt x="242888" y="94258"/>
                        <a:pt x="188515" y="121444"/>
                        <a:pt x="121444" y="121444"/>
                      </a:cubicBezTo>
                      <a:cubicBezTo>
                        <a:pt x="54372" y="121444"/>
                        <a:pt x="0" y="94258"/>
                        <a:pt x="0" y="60722"/>
                      </a:cubicBezTo>
                      <a:cubicBezTo>
                        <a:pt x="0" y="27186"/>
                        <a:pt x="54372" y="0"/>
                        <a:pt x="121444" y="0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6515100" y="2047875"/>
                <a:ext cx="72818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响应侧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517958" y="2357914"/>
                <a:ext cx="104911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B1F3A"/>
                    </a:solidFill>
                    <a:latin typeface="Consolas"/>
                    <a:ea typeface="Microsoft YaHei"/>
                    <a:cs typeface="Consolas"/>
                  </a:rPr>
                  <a:t>CL FIFO[2]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519862" y="2621756"/>
                <a:ext cx="1104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R数据有序入队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8420100" y="2181225"/>
                <a:ext cx="400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9525">
                    <a:moveTo>
                      <a:pt x="0" y="0"/>
                    </a:moveTo>
                    <a:lnTo>
                      <a:pt x="400050" y="0"/>
                    </a:lnTo>
                  </a:path>
                </a:pathLst>
              </a:custGeom>
              <a:noFill/>
              <a:ln w="28575">
                <a:solidFill>
                  <a:srgbClr val="0B1F3A"/>
                </a:solidFill>
              </a:ln>
            </p:spPr>
          </p:sp>
          <p:sp>
            <p:nvSpPr>
              <p:cNvPr id="36" name="Polygon 36"/>
              <p:cNvSpPr/>
              <p:nvPr/>
            </p:nvSpPr>
            <p:spPr>
              <a:xfrm>
                <a:off x="8705850" y="2114550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114300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0B1F3A"/>
              </a:solidFill>
              <a:ln>
                <a:noFill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8877300" y="1447800"/>
              <a:ext cx="2114550" cy="1466850"/>
              <a:chOff x="8877300" y="1447800"/>
              <a:chExt cx="2114550" cy="14668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877300" y="1447800"/>
                <a:ext cx="2114550" cy="1466850"/>
              </a:xfrm>
              <a:prstGeom prst="roundRect">
                <a:avLst>
                  <a:gd name="adj" fmla="val 7792"/>
                </a:avLst>
              </a:prstGeom>
              <a:solidFill>
                <a:srgbClr val="FFFFFF"/>
              </a:solidFill>
              <a:ln w="9525">
                <a:solidFill>
                  <a:srgbClr val="F59E0B"/>
                </a:solidFill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9105900" y="1693778"/>
                <a:ext cx="323850" cy="289093"/>
                <a:chOff x="9105900" y="1693778"/>
                <a:chExt cx="323850" cy="289093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9227547" y="1693778"/>
                  <a:ext cx="80556" cy="289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556" h="289093">
                      <a:moveTo>
                        <a:pt x="40481" y="0"/>
                      </a:moveTo>
                      <a:lnTo>
                        <a:pt x="0" y="283369"/>
                      </a:lnTo>
                      <a:lnTo>
                        <a:pt x="40074" y="289093"/>
                      </a:lnTo>
                      <a:lnTo>
                        <a:pt x="80556" y="5725"/>
                      </a:lnTo>
                      <a:lnTo>
                        <a:pt x="40481" y="0"/>
                      </a:lnTo>
                      <a:close/>
                    </a:path>
                  </a:pathLst>
                </a:custGeom>
                <a:solidFill>
                  <a:srgbClr val="F59E0B"/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9330284" y="1767483"/>
                  <a:ext cx="99466" cy="141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66" h="141684">
                      <a:moveTo>
                        <a:pt x="28624" y="141684"/>
                      </a:moveTo>
                      <a:lnTo>
                        <a:pt x="0" y="113060"/>
                      </a:lnTo>
                      <a:lnTo>
                        <a:pt x="42218" y="70842"/>
                      </a:lnTo>
                      <a:lnTo>
                        <a:pt x="0" y="28625"/>
                      </a:lnTo>
                      <a:lnTo>
                        <a:pt x="28624" y="0"/>
                      </a:lnTo>
                      <a:lnTo>
                        <a:pt x="99466" y="70842"/>
                      </a:lnTo>
                      <a:lnTo>
                        <a:pt x="28624" y="141684"/>
                      </a:lnTo>
                      <a:close/>
                    </a:path>
                  </a:pathLst>
                </a:custGeom>
                <a:solidFill>
                  <a:srgbClr val="F59E0B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9105900" y="1767483"/>
                  <a:ext cx="99467" cy="141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67" h="141684">
                      <a:moveTo>
                        <a:pt x="57249" y="70842"/>
                      </a:moveTo>
                      <a:lnTo>
                        <a:pt x="99467" y="113060"/>
                      </a:lnTo>
                      <a:lnTo>
                        <a:pt x="70842" y="141684"/>
                      </a:lnTo>
                      <a:lnTo>
                        <a:pt x="0" y="70842"/>
                      </a:lnTo>
                      <a:lnTo>
                        <a:pt x="70842" y="0"/>
                      </a:lnTo>
                      <a:lnTo>
                        <a:pt x="99467" y="28625"/>
                      </a:lnTo>
                      <a:lnTo>
                        <a:pt x="57249" y="70842"/>
                      </a:lnTo>
                      <a:close/>
                    </a:path>
                  </a:pathLst>
                </a:custGeom>
                <a:solidFill>
                  <a:srgbClr val="F59E0B"/>
                </a:solidFill>
                <a:ln>
                  <a:noFill/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9086850" y="2047875"/>
                <a:ext cx="72818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消费侧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089708" y="2357914"/>
                <a:ext cx="67761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B1F3A"/>
                    </a:solidFill>
                    <a:latin typeface="Consolas"/>
                    <a:ea typeface="Microsoft YaHei"/>
                    <a:cs typeface="Consolas"/>
                  </a:rPr>
                  <a:t>head_r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091612" y="2621756"/>
                <a:ext cx="10965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行消费完 +64B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3733800" y="3352800"/>
            <a:ext cx="7258050" cy="1028700"/>
            <a:chOff x="3733800" y="3352800"/>
            <a:chExt cx="7258050" cy="1028700"/>
          </a:xfrm>
        </p:grpSpPr>
        <p:sp>
          <p:nvSpPr>
            <p:cNvPr id="48" name="Rectangle 48"/>
            <p:cNvSpPr/>
            <p:nvPr/>
          </p:nvSpPr>
          <p:spPr>
            <a:xfrm>
              <a:off x="3733800" y="3352800"/>
              <a:ext cx="7258050" cy="10287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D64545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982402" y="3560921"/>
              <a:ext cx="11288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D64545"/>
                  </a:solidFill>
                  <a:latin typeface="Arial"/>
                  <a:ea typeface="Microsoft YaHei"/>
                  <a:cs typeface="Arial"/>
                </a:rPr>
                <a:t>容量不变量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975735" y="3885248"/>
              <a:ext cx="67479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B1F3A"/>
                  </a:solidFill>
                  <a:latin typeface="Consolas"/>
                  <a:ea typeface="Microsoft YaHei"/>
                  <a:cs typeface="Consolas"/>
                </a:rPr>
                <a:t>fifo_count + request_count &lt; PREFETCH_DEPTH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733800" y="4629150"/>
            <a:ext cx="7258050" cy="1162050"/>
            <a:chOff x="3733800" y="4629150"/>
            <a:chExt cx="7258050" cy="1162050"/>
          </a:xfrm>
        </p:grpSpPr>
        <p:sp>
          <p:nvSpPr>
            <p:cNvPr id="52" name="Rectangle 52"/>
            <p:cNvSpPr/>
            <p:nvPr/>
          </p:nvSpPr>
          <p:spPr>
            <a:xfrm>
              <a:off x="3733800" y="4629150"/>
              <a:ext cx="7258050" cy="1162050"/>
            </a:xfrm>
            <a:prstGeom prst="roundRect">
              <a:avLst>
                <a:gd name="adj" fmla="val 9836"/>
              </a:avLst>
            </a:prstGeom>
            <a:solidFill>
              <a:srgbClr val="FFFFFF"/>
            </a:solidFill>
            <a:ln w="9525">
              <a:solidFill>
                <a:srgbClr val="D7DEE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982402" y="4846796"/>
              <a:ext cx="9103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关键含义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984308" y="5177314"/>
              <a:ext cx="57212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在途请求提前占用FIFO容量，保证每个AXI响应到达时都有可写槽位。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986212" y="5460206"/>
              <a:ext cx="42923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只支持深度1/2和有序响应，不引入重排缓冲或复杂AXI ID。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21970" y="6532245"/>
            <a:ext cx="11148060" cy="182880"/>
            <a:chOff x="521970" y="6532245"/>
            <a:chExt cx="11148060" cy="182880"/>
          </a:xfrm>
        </p:grpSpPr>
        <p:sp>
          <p:nvSpPr>
            <p:cNvPr id="57" name="TextBox 57"/>
            <p:cNvSpPr txBox="1"/>
            <p:nvPr/>
          </p:nvSpPr>
          <p:spPr>
            <a:xfrm>
              <a:off x="521970" y="6532245"/>
              <a:ext cx="2145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代码：hw/rtl/cp/VX_cp_fetch.sv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72552" y="653224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7" grpId="0"/>
      <p:bldP spid="51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9110" y="280035"/>
            <a:ext cx="11226962" cy="548640"/>
            <a:chOff x="499110" y="280035"/>
            <a:chExt cx="11226962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280035"/>
              <a:ext cx="82668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AXI延迟越高，depth=2吞吐越接近基线的2倍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287000" y="3238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19527" y="426720"/>
              <a:ext cx="15065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EXPERIMENT 6 · RESULT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781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476583" y="1173956"/>
            <a:ext cx="7549849" cy="4895850"/>
            <a:chOff x="476583" y="1173956"/>
            <a:chExt cx="7549849" cy="4895850"/>
          </a:xfrm>
        </p:grpSpPr>
        <p:sp>
          <p:nvSpPr>
            <p:cNvPr id="8" name="Line 8"/>
            <p:cNvSpPr/>
            <p:nvPr/>
          </p:nvSpPr>
          <p:spPr>
            <a:xfrm>
              <a:off x="876300" y="5391150"/>
              <a:ext cx="7029450" cy="9525"/>
            </a:xfrm>
            <a:custGeom>
              <a:avLst/>
              <a:gdLst/>
              <a:ahLst/>
              <a:cxnLst/>
              <a:rect l="l" t="t" r="r" b="b"/>
              <a:pathLst>
                <a:path w="7029450" h="9525">
                  <a:moveTo>
                    <a:pt x="0" y="0"/>
                  </a:moveTo>
                  <a:lnTo>
                    <a:pt x="7029450" y="0"/>
                  </a:lnTo>
                </a:path>
              </a:pathLst>
            </a:custGeom>
            <a:noFill/>
            <a:ln w="19050">
              <a:solidFill>
                <a:srgbClr val="D7DEE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76300" y="1485900"/>
              <a:ext cx="9525" cy="3905250"/>
            </a:xfrm>
            <a:custGeom>
              <a:avLst/>
              <a:gdLst/>
              <a:ahLst/>
              <a:cxnLst/>
              <a:rect l="l" t="t" r="r" b="b"/>
              <a:pathLst>
                <a:path w="9525" h="3905250">
                  <a:moveTo>
                    <a:pt x="0" y="0"/>
                  </a:moveTo>
                  <a:lnTo>
                    <a:pt x="0" y="3905250"/>
                  </a:lnTo>
                </a:path>
              </a:pathLst>
            </a:custGeom>
            <a:noFill/>
            <a:ln w="19050">
              <a:solidFill>
                <a:srgbClr val="D7DEE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76300" y="5391150"/>
              <a:ext cx="7029450" cy="9525"/>
            </a:xfrm>
            <a:custGeom>
              <a:avLst/>
              <a:gdLst/>
              <a:ahLst/>
              <a:cxnLst/>
              <a:rect l="l" t="t" r="r" b="b"/>
              <a:pathLst>
                <a:path w="7029450" h="9525">
                  <a:moveTo>
                    <a:pt x="0" y="0"/>
                  </a:moveTo>
                  <a:lnTo>
                    <a:pt x="702945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  <a:prstDash val="dash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6583" y="532542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0.0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76300" y="4414838"/>
              <a:ext cx="7029450" cy="9525"/>
            </a:xfrm>
            <a:custGeom>
              <a:avLst/>
              <a:gdLst/>
              <a:ahLst/>
              <a:cxnLst/>
              <a:rect l="l" t="t" r="r" b="b"/>
              <a:pathLst>
                <a:path w="7029450" h="9525">
                  <a:moveTo>
                    <a:pt x="0" y="0"/>
                  </a:moveTo>
                  <a:lnTo>
                    <a:pt x="702945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  <a:prstDash val="dash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6583" y="4349115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0.2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76300" y="3438525"/>
              <a:ext cx="7029450" cy="9525"/>
            </a:xfrm>
            <a:custGeom>
              <a:avLst/>
              <a:gdLst/>
              <a:ahLst/>
              <a:cxnLst/>
              <a:rect l="l" t="t" r="r" b="b"/>
              <a:pathLst>
                <a:path w="7029450" h="9525">
                  <a:moveTo>
                    <a:pt x="0" y="0"/>
                  </a:moveTo>
                  <a:lnTo>
                    <a:pt x="702945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  <a:prstDash val="dash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6583" y="337280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0.4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76300" y="2462212"/>
              <a:ext cx="7029450" cy="9525"/>
            </a:xfrm>
            <a:custGeom>
              <a:avLst/>
              <a:gdLst/>
              <a:ahLst/>
              <a:cxnLst/>
              <a:rect l="l" t="t" r="r" b="b"/>
              <a:pathLst>
                <a:path w="7029450" h="9525">
                  <a:moveTo>
                    <a:pt x="0" y="0"/>
                  </a:moveTo>
                  <a:lnTo>
                    <a:pt x="702945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  <a:prstDash val="dash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6583" y="2396490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0.6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76300" y="1485900"/>
              <a:ext cx="7029450" cy="9525"/>
            </a:xfrm>
            <a:custGeom>
              <a:avLst/>
              <a:gdLst/>
              <a:ahLst/>
              <a:cxnLst/>
              <a:rect l="l" t="t" r="r" b="b"/>
              <a:pathLst>
                <a:path w="7029450" h="9525">
                  <a:moveTo>
                    <a:pt x="0" y="0"/>
                  </a:moveTo>
                  <a:lnTo>
                    <a:pt x="702945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  <a:prstDash val="dash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6583" y="1420178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0.8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9962" y="5544502"/>
              <a:ext cx="726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4638" y="55445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36918" y="5544502"/>
              <a:ext cx="15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27361" y="554450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20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58104" y="5544502"/>
              <a:ext cx="195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50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85068" y="5544502"/>
              <a:ext cx="241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100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11545" y="5841206"/>
              <a:ext cx="21399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AXI read latency（cycles）</a:t>
              </a:r>
            </a:p>
          </p:txBody>
        </p:sp>
        <p:sp>
          <p:nvSpPr>
            <p:cNvPr id="27" name="Polyline 27"/>
            <p:cNvSpPr/>
            <p:nvPr/>
          </p:nvSpPr>
          <p:spPr>
            <a:xfrm>
              <a:off x="876300" y="2950845"/>
              <a:ext cx="7029450" cy="2301240"/>
            </a:xfrm>
            <a:custGeom>
              <a:avLst/>
              <a:gdLst/>
              <a:ahLst/>
              <a:cxnLst/>
              <a:rect l="l" t="t" r="r" b="b"/>
              <a:pathLst>
                <a:path w="7029450" h="2301240">
                  <a:moveTo>
                    <a:pt x="0" y="0"/>
                  </a:moveTo>
                  <a:lnTo>
                    <a:pt x="283845" y="975360"/>
                  </a:lnTo>
                  <a:lnTo>
                    <a:pt x="639128" y="1463992"/>
                  </a:lnTo>
                  <a:lnTo>
                    <a:pt x="1348740" y="1854518"/>
                  </a:lnTo>
                  <a:lnTo>
                    <a:pt x="3479482" y="2173605"/>
                  </a:lnTo>
                  <a:lnTo>
                    <a:pt x="7029450" y="2301240"/>
                  </a:lnTo>
                </a:path>
              </a:pathLst>
            </a:custGeom>
            <a:noFill/>
            <a:ln w="38100">
              <a:solidFill>
                <a:srgbClr val="1565C0"/>
              </a:solidFill>
              <a:round/>
            </a:ln>
          </p:spPr>
        </p:sp>
        <p:sp>
          <p:nvSpPr>
            <p:cNvPr id="28" name="Polyline 28"/>
            <p:cNvSpPr/>
            <p:nvPr/>
          </p:nvSpPr>
          <p:spPr>
            <a:xfrm>
              <a:off x="876300" y="1758315"/>
              <a:ext cx="7029450" cy="3353752"/>
            </a:xfrm>
            <a:custGeom>
              <a:avLst/>
              <a:gdLst/>
              <a:ahLst/>
              <a:cxnLst/>
              <a:rect l="l" t="t" r="r" b="b"/>
              <a:pathLst>
                <a:path w="7029450" h="3353752">
                  <a:moveTo>
                    <a:pt x="0" y="0"/>
                  </a:moveTo>
                  <a:lnTo>
                    <a:pt x="283845" y="740093"/>
                  </a:lnTo>
                  <a:lnTo>
                    <a:pt x="639128" y="1696402"/>
                  </a:lnTo>
                  <a:lnTo>
                    <a:pt x="1348740" y="2466975"/>
                  </a:lnTo>
                  <a:lnTo>
                    <a:pt x="3479482" y="3101340"/>
                  </a:lnTo>
                  <a:lnTo>
                    <a:pt x="7029450" y="3353752"/>
                  </a:lnTo>
                </a:path>
              </a:pathLst>
            </a:custGeom>
            <a:noFill/>
            <a:ln w="38100">
              <a:solidFill>
                <a:srgbClr val="00A6A6"/>
              </a:solidFill>
              <a:round/>
            </a:ln>
          </p:spPr>
        </p:sp>
        <p:sp>
          <p:nvSpPr>
            <p:cNvPr id="29" name="Ellipse 29"/>
            <p:cNvSpPr/>
            <p:nvPr/>
          </p:nvSpPr>
          <p:spPr>
            <a:xfrm>
              <a:off x="819150" y="2893219"/>
              <a:ext cx="114300" cy="1143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02995" y="3869531"/>
              <a:ext cx="114300" cy="1143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458278" y="4357688"/>
              <a:ext cx="114300" cy="1143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167890" y="4748212"/>
              <a:ext cx="114300" cy="1143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298632" y="5067735"/>
              <a:ext cx="114300" cy="1143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848600" y="5194529"/>
              <a:ext cx="114300" cy="1143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19150" y="1701210"/>
              <a:ext cx="114300" cy="1143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102995" y="2441220"/>
              <a:ext cx="114300" cy="1143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458278" y="3397513"/>
              <a:ext cx="114300" cy="1143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167890" y="4168254"/>
              <a:ext cx="114300" cy="1143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4298632" y="4802671"/>
              <a:ext cx="114300" cy="1143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848600" y="5055385"/>
              <a:ext cx="114300" cy="1143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162050" y="1219200"/>
              <a:ext cx="152400" cy="47625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395412" y="1173956"/>
              <a:ext cx="620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Depth=1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209800" y="1219200"/>
              <a:ext cx="152400" cy="47625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443162" y="1173956"/>
              <a:ext cx="6611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Depth=2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305800" y="1276350"/>
            <a:ext cx="3352800" cy="4229100"/>
            <a:chOff x="8305800" y="1276350"/>
            <a:chExt cx="3352800" cy="4229100"/>
          </a:xfrm>
        </p:grpSpPr>
        <p:sp>
          <p:nvSpPr>
            <p:cNvPr id="46" name="Rectangle 46"/>
            <p:cNvSpPr/>
            <p:nvPr/>
          </p:nvSpPr>
          <p:spPr>
            <a:xfrm>
              <a:off x="8305800" y="1276350"/>
              <a:ext cx="3352800" cy="4229100"/>
            </a:xfrm>
            <a:prstGeom prst="roundRect">
              <a:avLst>
                <a:gd name="adj" fmla="val 3409"/>
              </a:avLst>
            </a:prstGeom>
            <a:solidFill>
              <a:srgbClr val="FFFFFF"/>
            </a:solidFill>
            <a:ln w="9525">
              <a:solidFill>
                <a:srgbClr val="D7DEE8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572500" y="1638300"/>
              <a:ext cx="1847421" cy="714375"/>
              <a:chOff x="8572500" y="1638300"/>
              <a:chExt cx="1847421" cy="714375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8572500" y="1638300"/>
                <a:ext cx="1847421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+48.84%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614410" y="2108835"/>
                <a:ext cx="130111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1-cycle latency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8572500" y="2590800"/>
              <a:ext cx="1732407" cy="714375"/>
              <a:chOff x="8572500" y="2590800"/>
              <a:chExt cx="1732407" cy="714375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8572500" y="2590800"/>
                <a:ext cx="1732407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+99.01%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614410" y="3061335"/>
                <a:ext cx="144132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20-cycle latency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8572500" y="3543300"/>
              <a:ext cx="1847421" cy="714375"/>
              <a:chOff x="8572500" y="3543300"/>
              <a:chExt cx="1847421" cy="714375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8572500" y="3543300"/>
                <a:ext cx="1847421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+99.76%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614410" y="4013835"/>
                <a:ext cx="149390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77A"/>
                    </a:solidFill>
                    <a:latin typeface="Arial"/>
                    <a:ea typeface="Microsoft YaHei"/>
                    <a:cs typeface="Arial"/>
                  </a:rPr>
                  <a:t>100-cycle latency</a:t>
                </a:r>
              </a:p>
            </p:txBody>
          </p:sp>
        </p:grpSp>
        <p:sp>
          <p:nvSpPr>
            <p:cNvPr id="56" name="Line 56"/>
            <p:cNvSpPr/>
            <p:nvPr/>
          </p:nvSpPr>
          <p:spPr>
            <a:xfrm>
              <a:off x="8610600" y="447675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594408" y="4682014"/>
              <a:ext cx="20169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38A5B"/>
                  </a:solidFill>
                  <a:latin typeface="Arial"/>
                  <a:ea typeface="Microsoft YaHei"/>
                  <a:cs typeface="Arial"/>
                </a:rPr>
                <a:t>64 AR · 192 commands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96312" y="4983956"/>
              <a:ext cx="2394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A"/>
                  </a:solidFill>
                  <a:latin typeface="Arial"/>
                  <a:ea typeface="Microsoft YaHei"/>
                  <a:cs typeface="Arial"/>
                </a:rPr>
                <a:t>final_head=4096 · drop/dup=0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21970" y="6532245"/>
            <a:ext cx="11148060" cy="182880"/>
            <a:chOff x="521970" y="6532245"/>
            <a:chExt cx="11148060" cy="182880"/>
          </a:xfrm>
        </p:grpSpPr>
        <p:sp>
          <p:nvSpPr>
            <p:cNvPr id="60" name="TextBox 60"/>
            <p:cNvSpPr txBox="1"/>
            <p:nvPr/>
          </p:nvSpPr>
          <p:spPr>
            <a:xfrm>
              <a:off x="521970" y="6532245"/>
              <a:ext cx="32695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来源：results/exp06/prefetch_latency_sweep.csv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305413" y="6532245"/>
              <a:ext cx="3646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9110" y="280035"/>
            <a:ext cx="11159490" cy="548640"/>
            <a:chOff x="499110" y="280035"/>
            <a:chExt cx="11159490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280035"/>
              <a:ext cx="627935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正确性由一组跨层不变量共同保证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287000" y="3238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543868" y="426720"/>
              <a:ext cx="8578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VERIFICATION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781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33400" y="971550"/>
            <a:ext cx="11125200" cy="495300"/>
            <a:chOff x="533400" y="971550"/>
            <a:chExt cx="11125200" cy="495300"/>
          </a:xfrm>
        </p:grpSpPr>
        <p:sp>
          <p:nvSpPr>
            <p:cNvPr id="8" name="Rectangle 8"/>
            <p:cNvSpPr/>
            <p:nvPr/>
          </p:nvSpPr>
          <p:spPr>
            <a:xfrm>
              <a:off x="533400" y="971550"/>
              <a:ext cx="11125200" cy="495300"/>
            </a:xfrm>
            <a:prstGeom prst="roundRect">
              <a:avLst>
                <a:gd name="adj" fmla="val 15385"/>
              </a:avLst>
            </a:prstGeom>
            <a:solidFill>
              <a:srgbClr val="138A5B">
                <a:alpha val="9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2950" y="1133475"/>
              <a:ext cx="64789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三项优化分别改变状态、布局和时序，但都不能改变命令级语义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33400" y="1714500"/>
            <a:ext cx="11125200" cy="4000500"/>
            <a:chOff x="533400" y="1714500"/>
            <a:chExt cx="11125200" cy="4000500"/>
          </a:xfrm>
        </p:grpSpPr>
        <p:sp>
          <p:nvSpPr>
            <p:cNvPr id="11" name="Rectangle 11"/>
            <p:cNvSpPr/>
            <p:nvPr/>
          </p:nvSpPr>
          <p:spPr>
            <a:xfrm>
              <a:off x="533400" y="1714500"/>
              <a:ext cx="11125200" cy="40005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33400" y="1714500"/>
              <a:ext cx="11125200" cy="609600"/>
            </a:xfrm>
            <a:prstGeom prst="roundRect">
              <a:avLst>
                <a:gd name="adj" fmla="val 18750"/>
              </a:avLst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3905" y="19497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验证不变量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16094" y="1949768"/>
              <a:ext cx="10073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Fast Path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54008" y="1949768"/>
              <a:ext cx="7795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Packing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248" y="1949768"/>
              <a:ext cx="9452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Prefetch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533400" y="2324100"/>
              <a:ext cx="11125200" cy="552450"/>
              <a:chOff x="533400" y="2324100"/>
              <a:chExt cx="11125200" cy="5524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33400" y="2324100"/>
                <a:ext cx="11125200" cy="552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4858" y="2529364"/>
                <a:ext cx="133588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命令数量与顺序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388481" y="2529364"/>
                <a:ext cx="46253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PASS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312531" y="2529364"/>
                <a:ext cx="46253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PASS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236581" y="2529364"/>
                <a:ext cx="46253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PASS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33400" y="2876550"/>
              <a:ext cx="11125200" cy="552450"/>
              <a:chOff x="533400" y="2876550"/>
              <a:chExt cx="11125200" cy="5524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33400" y="2876550"/>
                <a:ext cx="11125200" cy="552450"/>
              </a:xfrm>
              <a:prstGeom prst="rect">
                <a:avLst/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4858" y="3081814"/>
                <a:ext cx="161520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seqnum按命令递增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388481" y="3081814"/>
                <a:ext cx="46253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PASS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312531" y="3081814"/>
                <a:ext cx="46253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PASS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236581" y="3081814"/>
                <a:ext cx="46253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PASS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33400" y="3429000"/>
              <a:ext cx="11125200" cy="552450"/>
              <a:chOff x="533400" y="3429000"/>
              <a:chExt cx="11125200" cy="5524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33400" y="3429000"/>
                <a:ext cx="11125200" cy="552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4858" y="3634264"/>
                <a:ext cx="186659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Ring wrap地址与head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549788" y="3634264"/>
                <a:ext cx="13992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8A94A6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312531" y="3634264"/>
                <a:ext cx="46253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PASS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236581" y="3634264"/>
                <a:ext cx="46253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PASS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33400" y="3981450"/>
              <a:ext cx="11125200" cy="552450"/>
              <a:chOff x="533400" y="3981450"/>
              <a:chExt cx="11125200" cy="5524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533400" y="3981450"/>
                <a:ext cx="11125200" cy="552450"/>
              </a:xfrm>
              <a:prstGeom prst="rect">
                <a:avLst/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4858" y="4186714"/>
                <a:ext cx="125208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边界/空间不足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549788" y="4186714"/>
                <a:ext cx="13992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8A94A6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312531" y="4186714"/>
                <a:ext cx="46253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PASS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236581" y="4186714"/>
                <a:ext cx="46253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PASS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33400" y="4533900"/>
              <a:ext cx="11125200" cy="552450"/>
              <a:chOff x="533400" y="4533900"/>
              <a:chExt cx="11125200" cy="5524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533400" y="4533900"/>
                <a:ext cx="11125200" cy="552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64858" y="4739164"/>
                <a:ext cx="114966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长序列与压力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466690" y="4739164"/>
                <a:ext cx="3061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10K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336971" y="4739164"/>
                <a:ext cx="41365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1000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314790" y="4739164"/>
                <a:ext cx="3061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192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533400" y="5086350"/>
              <a:ext cx="11125200" cy="552450"/>
              <a:chOff x="533400" y="5086350"/>
              <a:chExt cx="11125200" cy="55245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533400" y="5086350"/>
                <a:ext cx="11125200" cy="552450"/>
              </a:xfrm>
              <a:prstGeom prst="rect">
                <a:avLst/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64858" y="5291614"/>
                <a:ext cx="114966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相关模块回归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388481" y="5291614"/>
                <a:ext cx="46253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PASS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312531" y="5291614"/>
                <a:ext cx="46253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PASS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236581" y="5291614"/>
                <a:ext cx="46253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PASS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725091" y="5943600"/>
            <a:ext cx="7501682" cy="357188"/>
            <a:chOff x="725091" y="5943600"/>
            <a:chExt cx="7501682" cy="357188"/>
          </a:xfrm>
        </p:grpSpPr>
        <p:sp>
          <p:nvSpPr>
            <p:cNvPr id="54" name="Freeform 54"/>
            <p:cNvSpPr/>
            <p:nvPr/>
          </p:nvSpPr>
          <p:spPr>
            <a:xfrm>
              <a:off x="725091" y="5943600"/>
              <a:ext cx="283369" cy="323850"/>
            </a:xfrm>
            <a:custGeom>
              <a:avLst/>
              <a:gdLst/>
              <a:ahLst/>
              <a:cxnLst/>
              <a:rect l="l" t="t" r="r" b="b"/>
              <a:pathLst>
                <a:path w="283369" h="323850">
                  <a:moveTo>
                    <a:pt x="141684" y="323850"/>
                  </a:moveTo>
                  <a:lnTo>
                    <a:pt x="67808" y="271081"/>
                  </a:lnTo>
                  <a:cubicBezTo>
                    <a:pt x="25255" y="240685"/>
                    <a:pt x="0" y="191611"/>
                    <a:pt x="0" y="139317"/>
                  </a:cubicBezTo>
                  <a:lnTo>
                    <a:pt x="0" y="60722"/>
                  </a:lnTo>
                  <a:lnTo>
                    <a:pt x="141684" y="0"/>
                  </a:lnTo>
                  <a:lnTo>
                    <a:pt x="283369" y="60722"/>
                  </a:lnTo>
                  <a:lnTo>
                    <a:pt x="283369" y="139317"/>
                  </a:lnTo>
                  <a:cubicBezTo>
                    <a:pt x="283369" y="191611"/>
                    <a:pt x="258115" y="240685"/>
                    <a:pt x="215561" y="271081"/>
                  </a:cubicBezTo>
                  <a:lnTo>
                    <a:pt x="141684" y="323850"/>
                  </a:lnTo>
                  <a:close/>
                  <a:moveTo>
                    <a:pt x="226839" y="115515"/>
                  </a:moveTo>
                  <a:lnTo>
                    <a:pt x="198214" y="86891"/>
                  </a:lnTo>
                  <a:lnTo>
                    <a:pt x="121444" y="163661"/>
                  </a:lnTo>
                  <a:lnTo>
                    <a:pt x="85155" y="127372"/>
                  </a:lnTo>
                  <a:lnTo>
                    <a:pt x="56530" y="155997"/>
                  </a:lnTo>
                  <a:lnTo>
                    <a:pt x="121444" y="220910"/>
                  </a:lnTo>
                  <a:lnTo>
                    <a:pt x="226839" y="115515"/>
                  </a:lnTo>
                  <a:close/>
                </a:path>
              </a:pathLst>
            </a:custGeom>
            <a:solidFill>
              <a:srgbClr val="138A5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63955" y="6026468"/>
              <a:ext cx="70628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最终检查：无命令丢失、重复或乱序；Ring回绕、边界与相关模块均有覆盖。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21970" y="6532245"/>
            <a:ext cx="11148060" cy="182880"/>
            <a:chOff x="521970" y="6532245"/>
            <a:chExt cx="11148060" cy="182880"/>
          </a:xfrm>
        </p:grpSpPr>
        <p:sp>
          <p:nvSpPr>
            <p:cNvPr id="57" name="TextBox 57"/>
            <p:cNvSpPr txBox="1"/>
            <p:nvPr/>
          </p:nvSpPr>
          <p:spPr>
            <a:xfrm>
              <a:off x="521970" y="6532245"/>
              <a:ext cx="42028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来源：cp_engine、cp_unpack、cp_axi_path、cp_core、cp_dma回归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72552" y="653224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3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9110" y="280035"/>
            <a:ext cx="11185557" cy="548640"/>
            <a:chOff x="499110" y="280035"/>
            <a:chExt cx="11185557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280035"/>
              <a:ext cx="820469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性能、PPA和适用场景共同决定是否默认集成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287000" y="3238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60932" y="426720"/>
              <a:ext cx="14237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INTEGRATION DECISION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781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533400" y="1123950"/>
            <a:ext cx="11125200" cy="4095750"/>
            <a:chOff x="533400" y="1123950"/>
            <a:chExt cx="11125200" cy="4095750"/>
          </a:xfrm>
        </p:grpSpPr>
        <p:sp>
          <p:nvSpPr>
            <p:cNvPr id="8" name="Rectangle 8"/>
            <p:cNvSpPr/>
            <p:nvPr/>
          </p:nvSpPr>
          <p:spPr>
            <a:xfrm>
              <a:off x="533400" y="1123950"/>
              <a:ext cx="1112520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123950"/>
              <a:ext cx="11125200" cy="628650"/>
            </a:xfrm>
            <a:prstGeom prst="roundRect">
              <a:avLst>
                <a:gd name="adj" fmla="val 18182"/>
              </a:avLst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07533" y="1376839"/>
              <a:ext cx="4234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优化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88509" y="1376839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主要收益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84975" y="1376839"/>
              <a:ext cx="7460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PPA代价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46309" y="1376839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适用场景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37283" y="1376839"/>
              <a:ext cx="4234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决策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533400" y="1752600"/>
              <a:ext cx="11125200" cy="1104900"/>
              <a:chOff x="533400" y="1752600"/>
              <a:chExt cx="11125200" cy="11049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33400" y="1752600"/>
                <a:ext cx="11125200" cy="1104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85800" y="2000250"/>
                <a:ext cx="1866900" cy="609600"/>
              </a:xfrm>
              <a:prstGeom prst="roundRect">
                <a:avLst>
                  <a:gd name="adj" fmla="val 12500"/>
                </a:avLst>
              </a:prstGeom>
              <a:solidFill>
                <a:srgbClr val="F59E0B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59632" y="2209800"/>
                <a:ext cx="111923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Fast Path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727614" y="2234089"/>
                <a:ext cx="73627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CPC 3→2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83166" y="2234089"/>
                <a:ext cx="114966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dirty="0">
                    <a:solidFill>
                      <a:srgbClr val="D64545"/>
                    </a:solidFill>
                    <a:latin typeface="Arial"/>
                    <a:ea typeface="Microsoft YaHei"/>
                    <a:cs typeface="Arial"/>
                  </a:rPr>
                  <a:t>Fmax −6.43%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812530" y="2242185"/>
                <a:ext cx="10820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简单命令密集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665714" y="224218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D64545"/>
                    </a:solidFill>
                    <a:latin typeface="Arial"/>
                    <a:ea typeface="Microsoft YaHei"/>
                    <a:cs typeface="Arial"/>
                  </a:rPr>
                  <a:t>默认关闭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2857500"/>
              <a:ext cx="11125200" cy="1104900"/>
              <a:chOff x="533400" y="2857500"/>
              <a:chExt cx="11125200" cy="11049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33400" y="2857500"/>
                <a:ext cx="11125200" cy="1104900"/>
              </a:xfrm>
              <a:prstGeom prst="rect">
                <a:avLst/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85800" y="3105150"/>
                <a:ext cx="1866900" cy="609600"/>
              </a:xfrm>
              <a:prstGeom prst="roundRect">
                <a:avLst>
                  <a:gd name="adj" fmla="val 12500"/>
                </a:avLst>
              </a:prstGeom>
              <a:solidFill>
                <a:srgbClr val="00A6A6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186148" y="3314700"/>
                <a:ext cx="86620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Packing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209474" y="3338989"/>
                <a:ext cx="177255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Fetch流量 −66.60%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83166" y="3338989"/>
                <a:ext cx="114966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前端状态增加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676704" y="3347085"/>
                <a:ext cx="1353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带宽/多队列压力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665714" y="334708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能力保留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33400" y="3962400"/>
              <a:ext cx="11125200" cy="1104900"/>
              <a:chOff x="533400" y="3962400"/>
              <a:chExt cx="11125200" cy="11049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3962400"/>
                <a:ext cx="11125200" cy="1104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685800" y="4210050"/>
                <a:ext cx="1866900" cy="609600"/>
              </a:xfrm>
              <a:prstGeom prst="roundRect">
                <a:avLst>
                  <a:gd name="adj" fmla="val 12500"/>
                </a:avLst>
              </a:prstGeom>
              <a:solidFill>
                <a:srgbClr val="1565C0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94137" y="4419600"/>
                <a:ext cx="105022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Prefetch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385446" y="4443889"/>
                <a:ext cx="142060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高延迟近2×吞吐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273856" y="4443889"/>
                <a:ext cx="116828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Area +10.87%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795004" y="4451985"/>
                <a:ext cx="11170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Host延迟较高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518496" y="4451985"/>
                <a:ext cx="106100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默认Depth=1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533400" y="5505450"/>
            <a:ext cx="11125200" cy="704850"/>
            <a:chOff x="533400" y="5505450"/>
            <a:chExt cx="11125200" cy="704850"/>
          </a:xfrm>
        </p:grpSpPr>
        <p:sp>
          <p:nvSpPr>
            <p:cNvPr id="40" name="Rectangle 40"/>
            <p:cNvSpPr/>
            <p:nvPr/>
          </p:nvSpPr>
          <p:spPr>
            <a:xfrm>
              <a:off x="533400" y="5505450"/>
              <a:ext cx="11125200" cy="704850"/>
            </a:xfrm>
            <a:prstGeom prst="roundRect">
              <a:avLst>
                <a:gd name="adj" fmla="val 13514"/>
              </a:avLst>
            </a:prstGeom>
            <a:solidFill>
              <a:srgbClr val="F59E0B">
                <a:alpha val="12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0095" y="5746432"/>
              <a:ext cx="73798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工程原则：参数化保留优化能力，比不加区分地默认开启更可靠。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1970" y="6532245"/>
            <a:ext cx="11148060" cy="182880"/>
            <a:chOff x="521970" y="6532245"/>
            <a:chExt cx="11148060" cy="182880"/>
          </a:xfrm>
        </p:grpSpPr>
        <p:sp>
          <p:nvSpPr>
            <p:cNvPr id="43" name="TextBox 43"/>
            <p:cNvSpPr txBox="1"/>
            <p:nvPr/>
          </p:nvSpPr>
          <p:spPr>
            <a:xfrm>
              <a:off x="521970" y="6532245"/>
              <a:ext cx="33615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来源：实验4与实验6模块级Yosys/OpenSTA PPA代理结果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72552" y="653224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9110" y="280035"/>
            <a:ext cx="11159490" cy="548640"/>
            <a:chOff x="499110" y="280035"/>
            <a:chExt cx="11159490" cy="548640"/>
          </a:xfrm>
        </p:grpSpPr>
        <p:sp>
          <p:nvSpPr>
            <p:cNvPr id="3" name="TextBox 3"/>
            <p:cNvSpPr txBox="1"/>
            <p:nvPr/>
          </p:nvSpPr>
          <p:spPr>
            <a:xfrm>
              <a:off x="499110" y="280035"/>
              <a:ext cx="834961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现有实验把后续研究推进到多队列与组合优化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287000" y="323850"/>
              <a:ext cx="1371600" cy="285750"/>
            </a:xfrm>
            <a:prstGeom prst="roundRect">
              <a:avLst>
                <a:gd name="adj" fmla="val 50000"/>
              </a:avLst>
            </a:prstGeom>
            <a:solidFill>
              <a:srgbClr val="1565C0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12751" y="426720"/>
              <a:ext cx="11200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RESEARCH IMPACT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781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7DEE8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533400" y="1428750"/>
            <a:ext cx="10858500" cy="2076450"/>
            <a:chOff x="533400" y="1428750"/>
            <a:chExt cx="10858500" cy="2076450"/>
          </a:xfrm>
        </p:grpSpPr>
        <p:grpSp>
          <p:nvGrpSpPr>
            <p:cNvPr id="16" name="Group 16"/>
            <p:cNvGrpSpPr/>
            <p:nvPr/>
          </p:nvGrpSpPr>
          <p:grpSpPr>
            <a:xfrm>
              <a:off x="533400" y="1428750"/>
              <a:ext cx="3714750" cy="2076450"/>
              <a:chOff x="533400" y="1428750"/>
              <a:chExt cx="3714750" cy="20764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33400" y="1428750"/>
                <a:ext cx="3314700" cy="2076450"/>
              </a:xfrm>
              <a:prstGeom prst="roundRect">
                <a:avLst>
                  <a:gd name="adj" fmla="val 5505"/>
                </a:avLst>
              </a:prstGeom>
              <a:solidFill>
                <a:srgbClr val="FFFFFF"/>
              </a:solidFill>
              <a:ln w="9525">
                <a:solidFill>
                  <a:srgbClr val="138A5B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62000" y="1619250"/>
                <a:ext cx="533400" cy="533400"/>
              </a:xfrm>
              <a:prstGeom prst="ellipse">
                <a:avLst/>
              </a:prstGeom>
              <a:solidFill>
                <a:srgbClr val="138A5B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87457" y="1773285"/>
                <a:ext cx="282481" cy="233223"/>
              </a:xfrm>
              <a:custGeom>
                <a:avLst/>
                <a:gdLst/>
                <a:ahLst/>
                <a:cxnLst/>
                <a:rect l="l" t="t" r="r" b="b"/>
                <a:pathLst>
                  <a:path w="282481" h="233223">
                    <a:moveTo>
                      <a:pt x="282481" y="53881"/>
                    </a:moveTo>
                    <a:lnTo>
                      <a:pt x="103141" y="233223"/>
                    </a:lnTo>
                    <a:lnTo>
                      <a:pt x="0" y="130081"/>
                    </a:lnTo>
                    <a:lnTo>
                      <a:pt x="53882" y="76200"/>
                    </a:lnTo>
                    <a:lnTo>
                      <a:pt x="103141" y="125459"/>
                    </a:lnTo>
                    <a:lnTo>
                      <a:pt x="228600" y="0"/>
                    </a:lnTo>
                    <a:lnTo>
                      <a:pt x="282481" y="53881"/>
                    </a:lnTo>
                    <a:close/>
                  </a:path>
                </a:pathLst>
              </a:custGeom>
              <a:solidFill>
                <a:srgbClr val="138A5B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98195" y="2222182"/>
                <a:ext cx="231919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已完成：单队列前端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02958" y="2643664"/>
                <a:ext cx="90759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Fast Path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02958" y="2929414"/>
                <a:ext cx="17362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Packing · Prefetch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3848100" y="2466975"/>
                <a:ext cx="400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9525">
                    <a:moveTo>
                      <a:pt x="0" y="0"/>
                    </a:moveTo>
                    <a:lnTo>
                      <a:pt x="400050" y="0"/>
                    </a:lnTo>
                  </a:path>
                </a:pathLst>
              </a:custGeom>
              <a:noFill/>
              <a:ln w="28575">
                <a:solidFill>
                  <a:srgbClr val="0B1F3A"/>
                </a:solidFill>
              </a:ln>
            </p:spPr>
          </p:sp>
          <p:sp>
            <p:nvSpPr>
              <p:cNvPr id="15" name="Polygon 15"/>
              <p:cNvSpPr/>
              <p:nvPr/>
            </p:nvSpPr>
            <p:spPr>
              <a:xfrm>
                <a:off x="4133850" y="2400300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114300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0B1F3A"/>
              </a:solidFill>
              <a:ln>
                <a:noFill/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4305300" y="1428750"/>
              <a:ext cx="3714750" cy="2076450"/>
              <a:chOff x="4305300" y="1428750"/>
              <a:chExt cx="3714750" cy="20764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305300" y="1428750"/>
                <a:ext cx="3314700" cy="2076450"/>
              </a:xfrm>
              <a:prstGeom prst="roundRect">
                <a:avLst>
                  <a:gd name="adj" fmla="val 5505"/>
                </a:avLst>
              </a:prstGeom>
              <a:solidFill>
                <a:srgbClr val="FFFFFF"/>
              </a:solidFill>
              <a:ln w="9525">
                <a:solidFill>
                  <a:srgbClr val="F59E0B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4533900" y="1619250"/>
                <a:ext cx="533400" cy="533400"/>
              </a:xfrm>
              <a:prstGeom prst="ellipse">
                <a:avLst/>
              </a:prstGeom>
              <a:solidFill>
                <a:srgbClr val="F59E0B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676775" y="1733550"/>
                <a:ext cx="24765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304800">
                    <a:moveTo>
                      <a:pt x="66675" y="91287"/>
                    </a:moveTo>
                    <a:cubicBezTo>
                      <a:pt x="83495" y="83938"/>
                      <a:pt x="95250" y="67154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  <a:cubicBezTo>
                      <a:pt x="0" y="67154"/>
                      <a:pt x="11755" y="83938"/>
                      <a:pt x="28575" y="91287"/>
                    </a:cubicBezTo>
                    <a:lnTo>
                      <a:pt x="28575" y="213512"/>
                    </a:lnTo>
                    <a:cubicBezTo>
                      <a:pt x="11755" y="220862"/>
                      <a:pt x="0" y="237645"/>
                      <a:pt x="0" y="257175"/>
                    </a:cubicBezTo>
                    <a:cubicBezTo>
                      <a:pt x="0" y="283477"/>
                      <a:pt x="21322" y="304800"/>
                      <a:pt x="47625" y="304800"/>
                    </a:cubicBezTo>
                    <a:cubicBezTo>
                      <a:pt x="73928" y="304800"/>
                      <a:pt x="95250" y="283477"/>
                      <a:pt x="95250" y="257175"/>
                    </a:cubicBezTo>
                    <a:cubicBezTo>
                      <a:pt x="95250" y="237645"/>
                      <a:pt x="83495" y="220862"/>
                      <a:pt x="66675" y="213512"/>
                    </a:cubicBezTo>
                    <a:lnTo>
                      <a:pt x="66675" y="171450"/>
                    </a:lnTo>
                    <a:lnTo>
                      <a:pt x="219075" y="171450"/>
                    </a:lnTo>
                    <a:lnTo>
                      <a:pt x="219075" y="91287"/>
                    </a:lnTo>
                    <a:cubicBezTo>
                      <a:pt x="235896" y="83938"/>
                      <a:pt x="247650" y="67154"/>
                      <a:pt x="247650" y="47625"/>
                    </a:cubicBezTo>
                    <a:cubicBezTo>
                      <a:pt x="247650" y="21322"/>
                      <a:pt x="226327" y="0"/>
                      <a:pt x="200025" y="0"/>
                    </a:cubicBezTo>
                    <a:cubicBezTo>
                      <a:pt x="173723" y="0"/>
                      <a:pt x="152400" y="21322"/>
                      <a:pt x="152400" y="47625"/>
                    </a:cubicBezTo>
                    <a:cubicBezTo>
                      <a:pt x="152400" y="67154"/>
                      <a:pt x="164154" y="83938"/>
                      <a:pt x="180975" y="91287"/>
                    </a:cubicBezTo>
                    <a:lnTo>
                      <a:pt x="180975" y="133350"/>
                    </a:lnTo>
                    <a:lnTo>
                      <a:pt x="66675" y="133350"/>
                    </a:lnTo>
                    <a:lnTo>
                      <a:pt x="66675" y="91287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570095" y="2222182"/>
                <a:ext cx="25722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近期：共享资源公平性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74858" y="2643664"/>
                <a:ext cx="184796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Priority Arbitration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74858" y="2929414"/>
                <a:ext cx="172693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Aging · EVENT_WAIT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7620000" y="2466975"/>
                <a:ext cx="400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9525">
                    <a:moveTo>
                      <a:pt x="0" y="0"/>
                    </a:moveTo>
                    <a:lnTo>
                      <a:pt x="400050" y="0"/>
                    </a:lnTo>
                  </a:path>
                </a:pathLst>
              </a:custGeom>
              <a:noFill/>
              <a:ln w="28575">
                <a:solidFill>
                  <a:srgbClr val="0B1F3A"/>
                </a:solidFill>
              </a:ln>
            </p:spPr>
          </p:sp>
          <p:sp>
            <p:nvSpPr>
              <p:cNvPr id="24" name="Polygon 24"/>
              <p:cNvSpPr/>
              <p:nvPr/>
            </p:nvSpPr>
            <p:spPr>
              <a:xfrm>
                <a:off x="7905750" y="2400300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114300" y="66675"/>
                    </a:moveTo>
                    <a:lnTo>
                      <a:pt x="0" y="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0B1F3A"/>
              </a:solidFill>
              <a:ln>
                <a:noFill/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8077200" y="1428750"/>
              <a:ext cx="3314700" cy="2076450"/>
              <a:chOff x="8077200" y="1428750"/>
              <a:chExt cx="3314700" cy="20764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077200" y="1428750"/>
                <a:ext cx="3314700" cy="2076450"/>
              </a:xfrm>
              <a:prstGeom prst="roundRect">
                <a:avLst>
                  <a:gd name="adj" fmla="val 5505"/>
                </a:avLst>
              </a:prstGeom>
              <a:solidFill>
                <a:srgbClr val="FFFFFF"/>
              </a:solidFill>
              <a:ln w="9525">
                <a:solidFill>
                  <a:srgbClr val="1565C0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305800" y="1619250"/>
                <a:ext cx="533400" cy="533400"/>
              </a:xfrm>
              <a:prstGeom prst="ellipse">
                <a:avLst/>
              </a:prstGeom>
              <a:solidFill>
                <a:srgbClr val="1565C0">
                  <a:alpha val="14000"/>
                </a:srgbClr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8420100" y="1733550"/>
                <a:ext cx="304800" cy="304800"/>
                <a:chOff x="8420100" y="1733550"/>
                <a:chExt cx="304800" cy="30480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8496300" y="1809750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76200" y="0"/>
                      </a:moveTo>
                      <a:cubicBezTo>
                        <a:pt x="34116" y="0"/>
                        <a:pt x="0" y="34116"/>
                        <a:pt x="0" y="76200"/>
                      </a:cubicBezTo>
                      <a:cubicBezTo>
                        <a:pt x="0" y="118283"/>
                        <a:pt x="34116" y="152400"/>
                        <a:pt x="76200" y="152400"/>
                      </a:cubicBezTo>
                      <a:cubicBezTo>
                        <a:pt x="118283" y="152400"/>
                        <a:pt x="152400" y="118283"/>
                        <a:pt x="152400" y="76200"/>
                      </a:cubicBezTo>
                      <a:cubicBezTo>
                        <a:pt x="152400" y="34116"/>
                        <a:pt x="118283" y="0"/>
                        <a:pt x="76200" y="0"/>
                      </a:cubicBezTo>
                      <a:close/>
                      <a:moveTo>
                        <a:pt x="38100" y="76200"/>
                      </a:moveTo>
                      <a:cubicBezTo>
                        <a:pt x="38100" y="55158"/>
                        <a:pt x="55158" y="38100"/>
                        <a:pt x="76200" y="38100"/>
                      </a:cubicBezTo>
                      <a:cubicBezTo>
                        <a:pt x="97242" y="38100"/>
                        <a:pt x="114300" y="55158"/>
                        <a:pt x="114300" y="76200"/>
                      </a:cubicBezTo>
                      <a:cubicBezTo>
                        <a:pt x="114300" y="97242"/>
                        <a:pt x="97242" y="114300"/>
                        <a:pt x="76200" y="114300"/>
                      </a:cubicBezTo>
                      <a:cubicBezTo>
                        <a:pt x="55158" y="114300"/>
                        <a:pt x="38100" y="97242"/>
                        <a:pt x="38100" y="76200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420100" y="1733550"/>
                  <a:ext cx="3048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304800">
                      <a:moveTo>
                        <a:pt x="152400" y="0"/>
                      </a:moveTo>
                      <a:cubicBezTo>
                        <a:pt x="68232" y="0"/>
                        <a:pt x="0" y="68232"/>
                        <a:pt x="0" y="152400"/>
                      </a:cubicBezTo>
                      <a:cubicBezTo>
                        <a:pt x="0" y="236569"/>
                        <a:pt x="68232" y="304800"/>
                        <a:pt x="152400" y="304800"/>
                      </a:cubicBezTo>
                      <a:cubicBezTo>
                        <a:pt x="236569" y="304800"/>
                        <a:pt x="304800" y="236569"/>
                        <a:pt x="304800" y="152400"/>
                      </a:cubicBezTo>
                      <a:cubicBezTo>
                        <a:pt x="304800" y="68232"/>
                        <a:pt x="236569" y="0"/>
                        <a:pt x="152400" y="0"/>
                      </a:cubicBezTo>
                      <a:close/>
                      <a:moveTo>
                        <a:pt x="38100" y="152400"/>
                      </a:moveTo>
                      <a:cubicBezTo>
                        <a:pt x="38100" y="89274"/>
                        <a:pt x="89274" y="38100"/>
                        <a:pt x="152400" y="38100"/>
                      </a:cubicBezTo>
                      <a:cubicBezTo>
                        <a:pt x="215526" y="38100"/>
                        <a:pt x="266700" y="89274"/>
                        <a:pt x="266700" y="152400"/>
                      </a:cubicBezTo>
                      <a:cubicBezTo>
                        <a:pt x="266700" y="215526"/>
                        <a:pt x="215526" y="266700"/>
                        <a:pt x="152400" y="266700"/>
                      </a:cubicBezTo>
                      <a:cubicBezTo>
                        <a:pt x="89274" y="266700"/>
                        <a:pt x="38100" y="215526"/>
                        <a:pt x="38100" y="152400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8341995" y="2222182"/>
                <a:ext cx="231919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系统级：端到端验证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46758" y="2643664"/>
                <a:ext cx="114035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Multi-Queue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346758" y="2929414"/>
                <a:ext cx="258351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QMD · XRT · SimX/RTL Parity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33400" y="3848100"/>
            <a:ext cx="11518106" cy="1943100"/>
            <a:chOff x="533400" y="3848100"/>
            <a:chExt cx="11518106" cy="1943100"/>
          </a:xfrm>
        </p:grpSpPr>
        <p:sp>
          <p:nvSpPr>
            <p:cNvPr id="36" name="Rectangle 36"/>
            <p:cNvSpPr/>
            <p:nvPr/>
          </p:nvSpPr>
          <p:spPr>
            <a:xfrm>
              <a:off x="533400" y="3848100"/>
              <a:ext cx="11125200" cy="19431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D7DEE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9145" y="4079558"/>
              <a:ext cx="68737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B1F3A"/>
                  </a:solidFill>
                  <a:latin typeface="Arial"/>
                  <a:ea typeface="Microsoft YaHei"/>
                  <a:cs typeface="Arial"/>
                </a:rPr>
                <a:t>对后续研究最重要的不是三个开关，而是已经建立的实验资产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800100" y="4533900"/>
              <a:ext cx="2343150" cy="971550"/>
              <a:chOff x="800100" y="4533900"/>
              <a:chExt cx="2343150" cy="9715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00100" y="4533900"/>
                <a:ext cx="2343150" cy="971550"/>
              </a:xfrm>
              <a:prstGeom prst="roundRect">
                <a:avLst>
                  <a:gd name="adj" fmla="val 7843"/>
                </a:avLst>
              </a:prstGeom>
              <a:solidFill>
                <a:srgbClr val="1565C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54405" y="4712018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指标体系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57262" y="5041106"/>
                <a:ext cx="29968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CPC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57262" y="5260181"/>
                <a:ext cx="128551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流量、等待、PPA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3448050" y="4533900"/>
              <a:ext cx="2343150" cy="971550"/>
              <a:chOff x="3448050" y="4533900"/>
              <a:chExt cx="2343150" cy="9715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3448050" y="4533900"/>
                <a:ext cx="2343150" cy="971550"/>
              </a:xfrm>
              <a:prstGeom prst="roundRect">
                <a:avLst>
                  <a:gd name="adj" fmla="val 7843"/>
                </a:avLst>
              </a:prstGeom>
              <a:solidFill>
                <a:srgbClr val="00A6A6">
                  <a:alpha val="8000"/>
                </a:srgbClr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3602355" y="4712018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可调模型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3605212" y="5041106"/>
                <a:ext cx="8993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AXI latency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605212" y="5260181"/>
                <a:ext cx="88296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FIFO depth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6096000" y="4533900"/>
              <a:ext cx="2343150" cy="971550"/>
              <a:chOff x="6096000" y="4533900"/>
              <a:chExt cx="2343150" cy="9715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6096000" y="4533900"/>
                <a:ext cx="2343150" cy="971550"/>
              </a:xfrm>
              <a:prstGeom prst="roundRect">
                <a:avLst>
                  <a:gd name="adj" fmla="val 7843"/>
                </a:avLst>
              </a:prstGeom>
              <a:solidFill>
                <a:srgbClr val="138A5B">
                  <a:alpha val="8000"/>
                </a:srgbClr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250305" y="4712018"/>
                <a:ext cx="10694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38A5B"/>
                    </a:solidFill>
                    <a:latin typeface="Arial"/>
                    <a:ea typeface="Microsoft YaHei"/>
                    <a:cs typeface="Arial"/>
                  </a:rPr>
                  <a:t>正确性框架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253162" y="5041106"/>
                <a:ext cx="6036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seqnum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253162" y="5260181"/>
                <a:ext cx="13430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顺序、边界、回绕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8743950" y="4533900"/>
              <a:ext cx="3307556" cy="971550"/>
              <a:chOff x="8743950" y="4533900"/>
              <a:chExt cx="3307556" cy="9715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8743950" y="4533900"/>
                <a:ext cx="2343150" cy="971550"/>
              </a:xfrm>
              <a:prstGeom prst="roundRect">
                <a:avLst>
                  <a:gd name="adj" fmla="val 7843"/>
                </a:avLst>
              </a:prstGeom>
              <a:solidFill>
                <a:srgbClr val="F59E0B">
                  <a:alpha val="8000"/>
                </a:srgbClr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898255" y="4712018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组合假设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901112" y="5041106"/>
                <a:ext cx="31503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Packing降低流量，Prefetch隐藏剩余延迟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521970" y="6532245"/>
            <a:ext cx="11148060" cy="182880"/>
            <a:chOff x="521970" y="6532245"/>
            <a:chExt cx="111480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21970" y="6532245"/>
              <a:ext cx="22574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来源：Vortex CP 实验文档与仓库实测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72552" y="653224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A94A6"/>
                  </a:solidFill>
                  <a:latin typeface="Arial"/>
                  <a:ea typeface="Microsoft YaHei"/>
                  <a:cs typeface="Arial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F3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5312" y="754856"/>
              <a:ext cx="10033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CONCLUSION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7690" y="1224915"/>
              <a:ext cx="565051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从局部优化走向系统研究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1847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590550" y="2329815"/>
              <a:ext cx="4487704" cy="641985"/>
              <a:chOff x="590550" y="2329815"/>
              <a:chExt cx="4487704" cy="64198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590550" y="2362200"/>
                <a:ext cx="467249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1565C0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501140" y="2329815"/>
                <a:ext cx="170192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瓶颈是分层的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507808" y="2691289"/>
                <a:ext cx="357044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FFFFFF">
                        <a:alphaMod val="72000"/>
                      </a:srgbClr>
                    </a:solidFill>
                    <a:latin typeface="Arial"/>
                    <a:ea typeface="Microsoft YaHei"/>
                    <a:cs typeface="Arial"/>
                  </a:rPr>
                  <a:t>单一吞吐指标无法解释执行、流量和等待。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90550" y="3434715"/>
              <a:ext cx="6107764" cy="641985"/>
              <a:chOff x="590550" y="3434715"/>
              <a:chExt cx="6107764" cy="64198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90550" y="3467100"/>
                <a:ext cx="582263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01140" y="3434715"/>
                <a:ext cx="225399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三项优化各司其职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07808" y="3796189"/>
                <a:ext cx="519050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FFFFFF">
                        <a:alphaMod val="72000"/>
                      </a:srgbClr>
                    </a:solidFill>
                    <a:latin typeface="Arial"/>
                    <a:ea typeface="Microsoft YaHei"/>
                    <a:cs typeface="Arial"/>
                  </a:rPr>
                  <a:t>Fast Path优化执行，Packing优化布局，Prefetch隐藏延迟。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90550" y="4539615"/>
              <a:ext cx="4934617" cy="641985"/>
              <a:chOff x="590550" y="4539615"/>
              <a:chExt cx="4934617" cy="641985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590550" y="4572000"/>
                <a:ext cx="582263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01140" y="4539615"/>
                <a:ext cx="170192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集成必须权衡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507808" y="4901089"/>
                <a:ext cx="401735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FFFFFF">
                        <a:alphaMod val="72000"/>
                      </a:srgbClr>
                    </a:solidFill>
                    <a:latin typeface="Arial"/>
                    <a:ea typeface="Microsoft YaHei"/>
                    <a:cs typeface="Arial"/>
                  </a:rPr>
                  <a:t>正确性、性能、面积与Fmax共同决定默认配置。</a:t>
                </a:r>
              </a:p>
            </p:txBody>
          </p:sp>
        </p:grpSp>
        <p:sp>
          <p:nvSpPr>
            <p:cNvPr id="19" name="Rectangle 19"/>
            <p:cNvSpPr/>
            <p:nvPr/>
          </p:nvSpPr>
          <p:spPr>
            <a:xfrm>
              <a:off x="609600" y="5695950"/>
              <a:ext cx="10972800" cy="666750"/>
            </a:xfrm>
            <a:prstGeom prst="roundRect">
              <a:avLst>
                <a:gd name="adj" fmla="val 14286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747679" y="5936932"/>
              <a:ext cx="66966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下一阶段：多队列资源竞争 × 组合优化 × 全链路周期一致性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